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14773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Fictional workflow demonstration. No experimental values or published-method claims. Reference grammar: memory slot arrays, token strips, nested attention mechanisms, fine connectors, semantic pastel colors. All objects are editable vectors; there are no photographs or raster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-encoding"/>
          <p:cNvSpPr/>
          <p:nvPr/>
        </p:nvSpPr>
        <p:spPr>
          <a:xfrm>
            <a:off x="135466" y="541866"/>
            <a:ext cx="3115733" cy="4131733"/>
          </a:xfrm>
          <a:prstGeom prst="roundRect">
            <a:avLst>
              <a:gd name="adj" fmla="val 3043"/>
            </a:avLst>
          </a:prstGeom>
          <a:solidFill>
            <a:srgbClr val="F7FAFE"/>
          </a:solidFill>
          <a:ln w="10837">
            <a:solidFill>
              <a:srgbClr val="7FA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nel-memory"/>
          <p:cNvSpPr/>
          <p:nvPr/>
        </p:nvSpPr>
        <p:spPr>
          <a:xfrm>
            <a:off x="3386666" y="541866"/>
            <a:ext cx="2031999" cy="4131733"/>
          </a:xfrm>
          <a:prstGeom prst="roundRect">
            <a:avLst>
              <a:gd name="adj" fmla="val 4666"/>
            </a:avLst>
          </a:prstGeom>
          <a:solidFill>
            <a:srgbClr val="F4FBF9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nel-fusion"/>
          <p:cNvSpPr/>
          <p:nvPr/>
        </p:nvSpPr>
        <p:spPr>
          <a:xfrm>
            <a:off x="5554133" y="541866"/>
            <a:ext cx="4809066" cy="4131733"/>
          </a:xfrm>
          <a:prstGeom prst="roundRect">
            <a:avLst>
              <a:gd name="adj" fmla="val 2295"/>
            </a:avLst>
          </a:prstGeom>
          <a:solidFill>
            <a:srgbClr val="FBF9FE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nel-prediction"/>
          <p:cNvSpPr/>
          <p:nvPr/>
        </p:nvSpPr>
        <p:spPr>
          <a:xfrm>
            <a:off x="10498666" y="541866"/>
            <a:ext cx="1557866" cy="4131733"/>
          </a:xfrm>
          <a:prstGeom prst="roundRect">
            <a:avLst>
              <a:gd name="adj" fmla="val 6086"/>
            </a:avLst>
          </a:prstGeom>
          <a:solidFill>
            <a:srgbClr val="FFFCF5"/>
          </a:solidFill>
          <a:ln w="10837">
            <a:solidFill>
              <a:srgbClr val="D7A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nput-image"/>
          <p:cNvSpPr/>
          <p:nvPr/>
        </p:nvSpPr>
        <p:spPr>
          <a:xfrm>
            <a:off x="304799" y="1469813"/>
            <a:ext cx="812799" cy="650239"/>
          </a:xfrm>
          <a:prstGeom prst="rect">
            <a:avLst/>
          </a:prstGeom>
          <a:solidFill>
            <a:srgbClr val="E4F0F9"/>
          </a:solidFill>
          <a:ln w="10837">
            <a:solidFill>
              <a:srgbClr val="7FA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un"/>
          <p:cNvSpPr/>
          <p:nvPr/>
        </p:nvSpPr>
        <p:spPr>
          <a:xfrm>
            <a:off x="880533" y="1557866"/>
            <a:ext cx="121919" cy="121919"/>
          </a:xfrm>
          <a:prstGeom prst="ellipse">
            <a:avLst/>
          </a:prstGeom>
          <a:solidFill>
            <a:srgbClr val="EDD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ision-encoder"/>
          <p:cNvSpPr/>
          <p:nvPr/>
        </p:nvSpPr>
        <p:spPr>
          <a:xfrm>
            <a:off x="1422399" y="1469813"/>
            <a:ext cx="927946" cy="650239"/>
          </a:xfrm>
          <a:prstGeom prst="roundRect">
            <a:avLst>
              <a:gd name="adj" fmla="val 12500"/>
            </a:avLst>
          </a:prstGeom>
          <a:solidFill>
            <a:srgbClr val="E8F1FC"/>
          </a:solidFill>
          <a:ln w="10837">
            <a:solidFill>
              <a:srgbClr val="7FA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-tokens-0"/>
          <p:cNvSpPr/>
          <p:nvPr/>
        </p:nvSpPr>
        <p:spPr>
          <a:xfrm>
            <a:off x="2546773" y="1652693"/>
            <a:ext cx="101599" cy="270933"/>
          </a:xfrm>
          <a:prstGeom prst="roundRect">
            <a:avLst>
              <a:gd name="adj" fmla="val 20000"/>
            </a:avLst>
          </a:prstGeom>
          <a:solidFill>
            <a:srgbClr val="A9C9EF"/>
          </a:solidFill>
          <a:ln w="10837">
            <a:solidFill>
              <a:srgbClr val="6D9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-tokens-1"/>
          <p:cNvSpPr/>
          <p:nvPr/>
        </p:nvSpPr>
        <p:spPr>
          <a:xfrm>
            <a:off x="2682239" y="1652693"/>
            <a:ext cx="101599" cy="270933"/>
          </a:xfrm>
          <a:prstGeom prst="roundRect">
            <a:avLst>
              <a:gd name="adj" fmla="val 20000"/>
            </a:avLst>
          </a:prstGeom>
          <a:solidFill>
            <a:srgbClr val="A9C9EF"/>
          </a:solidFill>
          <a:ln w="10837">
            <a:solidFill>
              <a:srgbClr val="6D9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isual-tokens-2"/>
          <p:cNvSpPr/>
          <p:nvPr/>
        </p:nvSpPr>
        <p:spPr>
          <a:xfrm>
            <a:off x="2817706" y="1652693"/>
            <a:ext cx="101599" cy="270933"/>
          </a:xfrm>
          <a:prstGeom prst="roundRect">
            <a:avLst>
              <a:gd name="adj" fmla="val 20000"/>
            </a:avLst>
          </a:prstGeom>
          <a:solidFill>
            <a:srgbClr val="A9C9EF"/>
          </a:solidFill>
          <a:ln w="10837">
            <a:solidFill>
              <a:srgbClr val="6D9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-tokens-3"/>
          <p:cNvSpPr/>
          <p:nvPr/>
        </p:nvSpPr>
        <p:spPr>
          <a:xfrm>
            <a:off x="2953173" y="1652693"/>
            <a:ext cx="101599" cy="270933"/>
          </a:xfrm>
          <a:prstGeom prst="roundRect">
            <a:avLst>
              <a:gd name="adj" fmla="val 20000"/>
            </a:avLst>
          </a:prstGeom>
          <a:solidFill>
            <a:srgbClr val="A9C9EF"/>
          </a:solidFill>
          <a:ln w="10837">
            <a:solidFill>
              <a:srgbClr val="6D9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nput-text"/>
          <p:cNvSpPr/>
          <p:nvPr/>
        </p:nvSpPr>
        <p:spPr>
          <a:xfrm>
            <a:off x="304799" y="3251199"/>
            <a:ext cx="812799" cy="623146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837">
            <a:solidFill>
              <a:srgbClr val="7FA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-encoder"/>
          <p:cNvSpPr/>
          <p:nvPr/>
        </p:nvSpPr>
        <p:spPr>
          <a:xfrm>
            <a:off x="1422399" y="3251199"/>
            <a:ext cx="927946" cy="623146"/>
          </a:xfrm>
          <a:prstGeom prst="roundRect">
            <a:avLst>
              <a:gd name="adj" fmla="val 13043"/>
            </a:avLst>
          </a:prstGeom>
          <a:solidFill>
            <a:srgbClr val="F2EEFB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-tokens-0"/>
          <p:cNvSpPr/>
          <p:nvPr/>
        </p:nvSpPr>
        <p:spPr>
          <a:xfrm>
            <a:off x="2546773" y="3427306"/>
            <a:ext cx="101599" cy="270933"/>
          </a:xfrm>
          <a:prstGeom prst="roundRect">
            <a:avLst>
              <a:gd name="adj" fmla="val 20000"/>
            </a:avLst>
          </a:prstGeom>
          <a:solidFill>
            <a:srgbClr val="CABAE8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-tokens-1"/>
          <p:cNvSpPr/>
          <p:nvPr/>
        </p:nvSpPr>
        <p:spPr>
          <a:xfrm>
            <a:off x="2682239" y="3427306"/>
            <a:ext cx="101599" cy="270933"/>
          </a:xfrm>
          <a:prstGeom prst="roundRect">
            <a:avLst>
              <a:gd name="adj" fmla="val 20000"/>
            </a:avLst>
          </a:prstGeom>
          <a:solidFill>
            <a:srgbClr val="CABAE8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-tokens-2"/>
          <p:cNvSpPr/>
          <p:nvPr/>
        </p:nvSpPr>
        <p:spPr>
          <a:xfrm>
            <a:off x="2817706" y="3427306"/>
            <a:ext cx="101599" cy="270933"/>
          </a:xfrm>
          <a:prstGeom prst="roundRect">
            <a:avLst>
              <a:gd name="adj" fmla="val 20000"/>
            </a:avLst>
          </a:prstGeom>
          <a:solidFill>
            <a:srgbClr val="CABAE8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-tokens-3"/>
          <p:cNvSpPr/>
          <p:nvPr/>
        </p:nvSpPr>
        <p:spPr>
          <a:xfrm>
            <a:off x="2953173" y="3427306"/>
            <a:ext cx="101599" cy="270933"/>
          </a:xfrm>
          <a:prstGeom prst="roundRect">
            <a:avLst>
              <a:gd name="adj" fmla="val 20000"/>
            </a:avLst>
          </a:prstGeom>
          <a:solidFill>
            <a:srgbClr val="CABAE8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trieval"/>
          <p:cNvSpPr/>
          <p:nvPr/>
        </p:nvSpPr>
        <p:spPr>
          <a:xfrm>
            <a:off x="3623733" y="2817706"/>
            <a:ext cx="1557866" cy="419946"/>
          </a:xfrm>
          <a:prstGeom prst="roundRect">
            <a:avLst>
              <a:gd name="adj" fmla="val 19354"/>
            </a:avLst>
          </a:prstGeom>
          <a:solidFill>
            <a:srgbClr val="CFEDE5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trieved-context-0"/>
          <p:cNvSpPr/>
          <p:nvPr/>
        </p:nvSpPr>
        <p:spPr>
          <a:xfrm>
            <a:off x="3894666" y="3738879"/>
            <a:ext cx="162559" cy="257386"/>
          </a:xfrm>
          <a:prstGeom prst="roundRect">
            <a:avLst>
              <a:gd name="adj" fmla="val 12500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trieved-context-1"/>
          <p:cNvSpPr/>
          <p:nvPr/>
        </p:nvSpPr>
        <p:spPr>
          <a:xfrm>
            <a:off x="4104639" y="3738879"/>
            <a:ext cx="162559" cy="257386"/>
          </a:xfrm>
          <a:prstGeom prst="roundRect">
            <a:avLst>
              <a:gd name="adj" fmla="val 12500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trieved-context-2"/>
          <p:cNvSpPr/>
          <p:nvPr/>
        </p:nvSpPr>
        <p:spPr>
          <a:xfrm>
            <a:off x="4314613" y="3738879"/>
            <a:ext cx="162559" cy="257386"/>
          </a:xfrm>
          <a:prstGeom prst="roundRect">
            <a:avLst>
              <a:gd name="adj" fmla="val 12500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trieved-context-3"/>
          <p:cNvSpPr/>
          <p:nvPr/>
        </p:nvSpPr>
        <p:spPr>
          <a:xfrm>
            <a:off x="4524586" y="3738879"/>
            <a:ext cx="162559" cy="257386"/>
          </a:xfrm>
          <a:prstGeom prst="roundRect">
            <a:avLst>
              <a:gd name="adj" fmla="val 12500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trieved-context-4"/>
          <p:cNvSpPr/>
          <p:nvPr/>
        </p:nvSpPr>
        <p:spPr>
          <a:xfrm>
            <a:off x="4734559" y="3738879"/>
            <a:ext cx="162559" cy="257386"/>
          </a:xfrm>
          <a:prstGeom prst="roundRect">
            <a:avLst>
              <a:gd name="adj" fmla="val 12500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q-group"/>
          <p:cNvSpPr/>
          <p:nvPr/>
        </p:nvSpPr>
        <p:spPr>
          <a:xfrm>
            <a:off x="5750559" y="1510453"/>
            <a:ext cx="806026" cy="799253"/>
          </a:xfrm>
          <a:prstGeom prst="roundRect">
            <a:avLst>
              <a:gd name="adj" fmla="val 10169"/>
            </a:avLst>
          </a:prstGeom>
          <a:solidFill>
            <a:srgbClr val="F5F8FD"/>
          </a:solidFill>
          <a:ln w="10837">
            <a:solidFill>
              <a:srgbClr val="7FA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q-tokens-0"/>
          <p:cNvSpPr/>
          <p:nvPr/>
        </p:nvSpPr>
        <p:spPr>
          <a:xfrm>
            <a:off x="5845386" y="1889759"/>
            <a:ext cx="115146" cy="257386"/>
          </a:xfrm>
          <a:prstGeom prst="roundRect">
            <a:avLst>
              <a:gd name="adj" fmla="val 17647"/>
            </a:avLst>
          </a:prstGeom>
          <a:solidFill>
            <a:srgbClr val="A9C9EF"/>
          </a:solidFill>
          <a:ln w="10837">
            <a:solidFill>
              <a:srgbClr val="6D9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q-tokens-1"/>
          <p:cNvSpPr/>
          <p:nvPr/>
        </p:nvSpPr>
        <p:spPr>
          <a:xfrm>
            <a:off x="5994399" y="1889759"/>
            <a:ext cx="115146" cy="257386"/>
          </a:xfrm>
          <a:prstGeom prst="roundRect">
            <a:avLst>
              <a:gd name="adj" fmla="val 17647"/>
            </a:avLst>
          </a:prstGeom>
          <a:solidFill>
            <a:srgbClr val="A9C9EF"/>
          </a:solidFill>
          <a:ln w="10837">
            <a:solidFill>
              <a:srgbClr val="6D9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q-tokens-2"/>
          <p:cNvSpPr/>
          <p:nvPr/>
        </p:nvSpPr>
        <p:spPr>
          <a:xfrm>
            <a:off x="6143413" y="1889759"/>
            <a:ext cx="115146" cy="257386"/>
          </a:xfrm>
          <a:prstGeom prst="roundRect">
            <a:avLst>
              <a:gd name="adj" fmla="val 17647"/>
            </a:avLst>
          </a:prstGeom>
          <a:solidFill>
            <a:srgbClr val="A9C9EF"/>
          </a:solidFill>
          <a:ln w="10837">
            <a:solidFill>
              <a:srgbClr val="6D9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q-tokens-3"/>
          <p:cNvSpPr/>
          <p:nvPr/>
        </p:nvSpPr>
        <p:spPr>
          <a:xfrm>
            <a:off x="6292426" y="1889759"/>
            <a:ext cx="115146" cy="257386"/>
          </a:xfrm>
          <a:prstGeom prst="roundRect">
            <a:avLst>
              <a:gd name="adj" fmla="val 17647"/>
            </a:avLst>
          </a:prstGeom>
          <a:solidFill>
            <a:srgbClr val="A9C9EF"/>
          </a:solidFill>
          <a:ln w="10837">
            <a:solidFill>
              <a:srgbClr val="6D9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-group"/>
          <p:cNvSpPr/>
          <p:nvPr/>
        </p:nvSpPr>
        <p:spPr>
          <a:xfrm>
            <a:off x="5750559" y="2783839"/>
            <a:ext cx="806026" cy="555413"/>
          </a:xfrm>
          <a:prstGeom prst="roundRect">
            <a:avLst>
              <a:gd name="adj" fmla="val 14634"/>
            </a:avLst>
          </a:prstGeom>
          <a:solidFill>
            <a:srgbClr val="E8F7F3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k-tokens-0"/>
          <p:cNvSpPr/>
          <p:nvPr/>
        </p:nvSpPr>
        <p:spPr>
          <a:xfrm>
            <a:off x="5838613" y="3027679"/>
            <a:ext cx="121919" cy="209973"/>
          </a:xfrm>
          <a:prstGeom prst="roundRect">
            <a:avLst>
              <a:gd name="adj" fmla="val 16666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-tokens-1"/>
          <p:cNvSpPr/>
          <p:nvPr/>
        </p:nvSpPr>
        <p:spPr>
          <a:xfrm>
            <a:off x="5994399" y="3027679"/>
            <a:ext cx="121919" cy="209973"/>
          </a:xfrm>
          <a:prstGeom prst="roundRect">
            <a:avLst>
              <a:gd name="adj" fmla="val 16666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-tokens-2"/>
          <p:cNvSpPr/>
          <p:nvPr/>
        </p:nvSpPr>
        <p:spPr>
          <a:xfrm>
            <a:off x="6150186" y="3027679"/>
            <a:ext cx="121919" cy="209973"/>
          </a:xfrm>
          <a:prstGeom prst="roundRect">
            <a:avLst>
              <a:gd name="adj" fmla="val 16666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k-tokens-3"/>
          <p:cNvSpPr/>
          <p:nvPr/>
        </p:nvSpPr>
        <p:spPr>
          <a:xfrm>
            <a:off x="6305973" y="3027679"/>
            <a:ext cx="121919" cy="209973"/>
          </a:xfrm>
          <a:prstGeom prst="roundRect">
            <a:avLst>
              <a:gd name="adj" fmla="val 16666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-group"/>
          <p:cNvSpPr/>
          <p:nvPr/>
        </p:nvSpPr>
        <p:spPr>
          <a:xfrm>
            <a:off x="5750559" y="3589866"/>
            <a:ext cx="806026" cy="555413"/>
          </a:xfrm>
          <a:prstGeom prst="roundRect">
            <a:avLst>
              <a:gd name="adj" fmla="val 14634"/>
            </a:avLst>
          </a:prstGeom>
          <a:solidFill>
            <a:srgbClr val="E8F7F3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-tokens-0"/>
          <p:cNvSpPr/>
          <p:nvPr/>
        </p:nvSpPr>
        <p:spPr>
          <a:xfrm>
            <a:off x="5838613" y="3833706"/>
            <a:ext cx="121919" cy="209973"/>
          </a:xfrm>
          <a:prstGeom prst="roundRect">
            <a:avLst>
              <a:gd name="adj" fmla="val 16666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-tokens-1"/>
          <p:cNvSpPr/>
          <p:nvPr/>
        </p:nvSpPr>
        <p:spPr>
          <a:xfrm>
            <a:off x="5994399" y="3833706"/>
            <a:ext cx="121919" cy="209973"/>
          </a:xfrm>
          <a:prstGeom prst="roundRect">
            <a:avLst>
              <a:gd name="adj" fmla="val 16666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-tokens-2"/>
          <p:cNvSpPr/>
          <p:nvPr/>
        </p:nvSpPr>
        <p:spPr>
          <a:xfrm>
            <a:off x="6150186" y="3833706"/>
            <a:ext cx="121919" cy="209973"/>
          </a:xfrm>
          <a:prstGeom prst="roundRect">
            <a:avLst>
              <a:gd name="adj" fmla="val 16666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-tokens-3"/>
          <p:cNvSpPr/>
          <p:nvPr/>
        </p:nvSpPr>
        <p:spPr>
          <a:xfrm>
            <a:off x="6305973" y="3833706"/>
            <a:ext cx="121919" cy="209973"/>
          </a:xfrm>
          <a:prstGeom prst="roundRect">
            <a:avLst>
              <a:gd name="adj" fmla="val 16666"/>
            </a:avLst>
          </a:prstGeom>
          <a:solidFill>
            <a:srgbClr val="86C9BC"/>
          </a:solidFill>
          <a:ln w="1083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ttention-inset"/>
          <p:cNvSpPr/>
          <p:nvPr/>
        </p:nvSpPr>
        <p:spPr>
          <a:xfrm>
            <a:off x="6732693" y="1192106"/>
            <a:ext cx="1876213" cy="1537546"/>
          </a:xfrm>
          <a:prstGeom prst="roundRect">
            <a:avLst>
              <a:gd name="adj" fmla="val 5286"/>
            </a:avLst>
          </a:prstGeom>
          <a:solidFill>
            <a:srgbClr val="F7F4FD"/>
          </a:solidFill>
          <a:ln w="10837">
            <a:solidFill>
              <a:srgbClr val="9A87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ttention-cell-0-0"/>
          <p:cNvSpPr/>
          <p:nvPr/>
        </p:nvSpPr>
        <p:spPr>
          <a:xfrm>
            <a:off x="7078133" y="1557866"/>
            <a:ext cx="176106" cy="176106"/>
          </a:xfrm>
          <a:prstGeom prst="rect">
            <a:avLst/>
          </a:prstGeom>
          <a:solidFill>
            <a:srgbClr val="8965BB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ttention-cell-0-1"/>
          <p:cNvSpPr/>
          <p:nvPr/>
        </p:nvSpPr>
        <p:spPr>
          <a:xfrm>
            <a:off x="7254239" y="1557866"/>
            <a:ext cx="176106" cy="176106"/>
          </a:xfrm>
          <a:prstGeom prst="rect">
            <a:avLst/>
          </a:prstGeom>
          <a:solidFill>
            <a:srgbClr val="9D7DC8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ttention-cell-0-2"/>
          <p:cNvSpPr/>
          <p:nvPr/>
        </p:nvSpPr>
        <p:spPr>
          <a:xfrm>
            <a:off x="7430346" y="1557866"/>
            <a:ext cx="176106" cy="176106"/>
          </a:xfrm>
          <a:prstGeom prst="rect">
            <a:avLst/>
          </a:prstGeom>
          <a:solidFill>
            <a:srgbClr val="B597D6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ttention-cell-0-3"/>
          <p:cNvSpPr/>
          <p:nvPr/>
        </p:nvSpPr>
        <p:spPr>
          <a:xfrm>
            <a:off x="7606453" y="1557866"/>
            <a:ext cx="176106" cy="176106"/>
          </a:xfrm>
          <a:prstGeom prst="rect">
            <a:avLst/>
          </a:prstGeom>
          <a:solidFill>
            <a:srgbClr val="C6AFE2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ttention-cell-0-4"/>
          <p:cNvSpPr/>
          <p:nvPr/>
        </p:nvSpPr>
        <p:spPr>
          <a:xfrm>
            <a:off x="7782559" y="1557866"/>
            <a:ext cx="176106" cy="176106"/>
          </a:xfrm>
          <a:prstGeom prst="rect">
            <a:avLst/>
          </a:prstGeom>
          <a:solidFill>
            <a:srgbClr val="D8CAED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ttention-cell-0-5"/>
          <p:cNvSpPr/>
          <p:nvPr/>
        </p:nvSpPr>
        <p:spPr>
          <a:xfrm>
            <a:off x="7958666" y="1557866"/>
            <a:ext cx="176106" cy="176106"/>
          </a:xfrm>
          <a:prstGeom prst="rect">
            <a:avLst/>
          </a:prstGeom>
          <a:solidFill>
            <a:srgbClr val="EAE3F6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ttention-cell-1-0"/>
          <p:cNvSpPr/>
          <p:nvPr/>
        </p:nvSpPr>
        <p:spPr>
          <a:xfrm>
            <a:off x="7078133" y="1733973"/>
            <a:ext cx="176106" cy="176106"/>
          </a:xfrm>
          <a:prstGeom prst="rect">
            <a:avLst/>
          </a:prstGeom>
          <a:solidFill>
            <a:srgbClr val="9D7DC8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ttention-cell-1-1"/>
          <p:cNvSpPr/>
          <p:nvPr/>
        </p:nvSpPr>
        <p:spPr>
          <a:xfrm>
            <a:off x="7254239" y="1733973"/>
            <a:ext cx="176106" cy="176106"/>
          </a:xfrm>
          <a:prstGeom prst="rect">
            <a:avLst/>
          </a:prstGeom>
          <a:solidFill>
            <a:srgbClr val="8965BB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ttention-cell-1-2"/>
          <p:cNvSpPr/>
          <p:nvPr/>
        </p:nvSpPr>
        <p:spPr>
          <a:xfrm>
            <a:off x="7430346" y="1733973"/>
            <a:ext cx="176106" cy="176106"/>
          </a:xfrm>
          <a:prstGeom prst="rect">
            <a:avLst/>
          </a:prstGeom>
          <a:solidFill>
            <a:srgbClr val="9D7DC8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ttention-cell-1-3"/>
          <p:cNvSpPr/>
          <p:nvPr/>
        </p:nvSpPr>
        <p:spPr>
          <a:xfrm>
            <a:off x="7606453" y="1733973"/>
            <a:ext cx="176106" cy="176106"/>
          </a:xfrm>
          <a:prstGeom prst="rect">
            <a:avLst/>
          </a:prstGeom>
          <a:solidFill>
            <a:srgbClr val="B597D6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ttention-cell-1-4"/>
          <p:cNvSpPr/>
          <p:nvPr/>
        </p:nvSpPr>
        <p:spPr>
          <a:xfrm>
            <a:off x="7782559" y="1733973"/>
            <a:ext cx="176106" cy="176106"/>
          </a:xfrm>
          <a:prstGeom prst="rect">
            <a:avLst/>
          </a:prstGeom>
          <a:solidFill>
            <a:srgbClr val="C6AFE2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ttention-cell-1-5"/>
          <p:cNvSpPr/>
          <p:nvPr/>
        </p:nvSpPr>
        <p:spPr>
          <a:xfrm>
            <a:off x="7958666" y="1733973"/>
            <a:ext cx="176106" cy="176106"/>
          </a:xfrm>
          <a:prstGeom prst="rect">
            <a:avLst/>
          </a:prstGeom>
          <a:solidFill>
            <a:srgbClr val="D8CAED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ttention-cell-2-0"/>
          <p:cNvSpPr/>
          <p:nvPr/>
        </p:nvSpPr>
        <p:spPr>
          <a:xfrm>
            <a:off x="7078133" y="1910079"/>
            <a:ext cx="176106" cy="176106"/>
          </a:xfrm>
          <a:prstGeom prst="rect">
            <a:avLst/>
          </a:prstGeom>
          <a:solidFill>
            <a:srgbClr val="B597D6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ttention-cell-2-1"/>
          <p:cNvSpPr/>
          <p:nvPr/>
        </p:nvSpPr>
        <p:spPr>
          <a:xfrm>
            <a:off x="7254239" y="1910079"/>
            <a:ext cx="176106" cy="176106"/>
          </a:xfrm>
          <a:prstGeom prst="rect">
            <a:avLst/>
          </a:prstGeom>
          <a:solidFill>
            <a:srgbClr val="9D7DC8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ttention-cell-2-2"/>
          <p:cNvSpPr/>
          <p:nvPr/>
        </p:nvSpPr>
        <p:spPr>
          <a:xfrm>
            <a:off x="7430346" y="1910079"/>
            <a:ext cx="176106" cy="176106"/>
          </a:xfrm>
          <a:prstGeom prst="rect">
            <a:avLst/>
          </a:prstGeom>
          <a:solidFill>
            <a:srgbClr val="8965BB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ttention-cell-2-3"/>
          <p:cNvSpPr/>
          <p:nvPr/>
        </p:nvSpPr>
        <p:spPr>
          <a:xfrm>
            <a:off x="7606453" y="1910079"/>
            <a:ext cx="176106" cy="176106"/>
          </a:xfrm>
          <a:prstGeom prst="rect">
            <a:avLst/>
          </a:prstGeom>
          <a:solidFill>
            <a:srgbClr val="9D7DC8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attention-cell-2-4"/>
          <p:cNvSpPr/>
          <p:nvPr/>
        </p:nvSpPr>
        <p:spPr>
          <a:xfrm>
            <a:off x="7782559" y="1910079"/>
            <a:ext cx="176106" cy="176106"/>
          </a:xfrm>
          <a:prstGeom prst="rect">
            <a:avLst/>
          </a:prstGeom>
          <a:solidFill>
            <a:srgbClr val="B597D6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ttention-cell-2-5"/>
          <p:cNvSpPr/>
          <p:nvPr/>
        </p:nvSpPr>
        <p:spPr>
          <a:xfrm>
            <a:off x="7958666" y="1910079"/>
            <a:ext cx="176106" cy="176106"/>
          </a:xfrm>
          <a:prstGeom prst="rect">
            <a:avLst/>
          </a:prstGeom>
          <a:solidFill>
            <a:srgbClr val="C6AFE2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ttention-cell-3-0"/>
          <p:cNvSpPr/>
          <p:nvPr/>
        </p:nvSpPr>
        <p:spPr>
          <a:xfrm>
            <a:off x="7078133" y="2086186"/>
            <a:ext cx="176106" cy="176106"/>
          </a:xfrm>
          <a:prstGeom prst="rect">
            <a:avLst/>
          </a:prstGeom>
          <a:solidFill>
            <a:srgbClr val="C6AFE2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attention-cell-3-1"/>
          <p:cNvSpPr/>
          <p:nvPr/>
        </p:nvSpPr>
        <p:spPr>
          <a:xfrm>
            <a:off x="7254239" y="2086186"/>
            <a:ext cx="176106" cy="176106"/>
          </a:xfrm>
          <a:prstGeom prst="rect">
            <a:avLst/>
          </a:prstGeom>
          <a:solidFill>
            <a:srgbClr val="B597D6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attention-cell-3-2"/>
          <p:cNvSpPr/>
          <p:nvPr/>
        </p:nvSpPr>
        <p:spPr>
          <a:xfrm>
            <a:off x="7430346" y="2086186"/>
            <a:ext cx="176106" cy="176106"/>
          </a:xfrm>
          <a:prstGeom prst="rect">
            <a:avLst/>
          </a:prstGeom>
          <a:solidFill>
            <a:srgbClr val="9D7DC8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ttention-cell-3-3"/>
          <p:cNvSpPr/>
          <p:nvPr/>
        </p:nvSpPr>
        <p:spPr>
          <a:xfrm>
            <a:off x="7606453" y="2086186"/>
            <a:ext cx="176106" cy="176106"/>
          </a:xfrm>
          <a:prstGeom prst="rect">
            <a:avLst/>
          </a:prstGeom>
          <a:solidFill>
            <a:srgbClr val="8965BB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ttention-cell-3-4"/>
          <p:cNvSpPr/>
          <p:nvPr/>
        </p:nvSpPr>
        <p:spPr>
          <a:xfrm>
            <a:off x="7782559" y="2086186"/>
            <a:ext cx="176106" cy="176106"/>
          </a:xfrm>
          <a:prstGeom prst="rect">
            <a:avLst/>
          </a:prstGeom>
          <a:solidFill>
            <a:srgbClr val="9D7DC8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ttention-cell-3-5"/>
          <p:cNvSpPr/>
          <p:nvPr/>
        </p:nvSpPr>
        <p:spPr>
          <a:xfrm>
            <a:off x="7958666" y="2086186"/>
            <a:ext cx="176106" cy="176106"/>
          </a:xfrm>
          <a:prstGeom prst="rect">
            <a:avLst/>
          </a:prstGeom>
          <a:solidFill>
            <a:srgbClr val="B597D6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attention-cell-4-0"/>
          <p:cNvSpPr/>
          <p:nvPr/>
        </p:nvSpPr>
        <p:spPr>
          <a:xfrm>
            <a:off x="7078133" y="2262293"/>
            <a:ext cx="176106" cy="176106"/>
          </a:xfrm>
          <a:prstGeom prst="rect">
            <a:avLst/>
          </a:prstGeom>
          <a:solidFill>
            <a:srgbClr val="D8CAED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attention-cell-4-1"/>
          <p:cNvSpPr/>
          <p:nvPr/>
        </p:nvSpPr>
        <p:spPr>
          <a:xfrm>
            <a:off x="7254239" y="2262293"/>
            <a:ext cx="176106" cy="176106"/>
          </a:xfrm>
          <a:prstGeom prst="rect">
            <a:avLst/>
          </a:prstGeom>
          <a:solidFill>
            <a:srgbClr val="C6AFE2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ttention-cell-4-2"/>
          <p:cNvSpPr/>
          <p:nvPr/>
        </p:nvSpPr>
        <p:spPr>
          <a:xfrm>
            <a:off x="7430346" y="2262293"/>
            <a:ext cx="176106" cy="176106"/>
          </a:xfrm>
          <a:prstGeom prst="rect">
            <a:avLst/>
          </a:prstGeom>
          <a:solidFill>
            <a:srgbClr val="B597D6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ttention-cell-4-3"/>
          <p:cNvSpPr/>
          <p:nvPr/>
        </p:nvSpPr>
        <p:spPr>
          <a:xfrm>
            <a:off x="7606453" y="2262293"/>
            <a:ext cx="176106" cy="176106"/>
          </a:xfrm>
          <a:prstGeom prst="rect">
            <a:avLst/>
          </a:prstGeom>
          <a:solidFill>
            <a:srgbClr val="9D7DC8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ttention-cell-4-4"/>
          <p:cNvSpPr/>
          <p:nvPr/>
        </p:nvSpPr>
        <p:spPr>
          <a:xfrm>
            <a:off x="7782559" y="2262293"/>
            <a:ext cx="176106" cy="176106"/>
          </a:xfrm>
          <a:prstGeom prst="rect">
            <a:avLst/>
          </a:prstGeom>
          <a:solidFill>
            <a:srgbClr val="8965BB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ttention-cell-4-5"/>
          <p:cNvSpPr/>
          <p:nvPr/>
        </p:nvSpPr>
        <p:spPr>
          <a:xfrm>
            <a:off x="7958666" y="2262293"/>
            <a:ext cx="176106" cy="176106"/>
          </a:xfrm>
          <a:prstGeom prst="rect">
            <a:avLst/>
          </a:prstGeom>
          <a:solidFill>
            <a:srgbClr val="9D7DC8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ttention-cell-5-0"/>
          <p:cNvSpPr/>
          <p:nvPr/>
        </p:nvSpPr>
        <p:spPr>
          <a:xfrm>
            <a:off x="7078133" y="2438399"/>
            <a:ext cx="176106" cy="176106"/>
          </a:xfrm>
          <a:prstGeom prst="rect">
            <a:avLst/>
          </a:prstGeom>
          <a:solidFill>
            <a:srgbClr val="EAE3F6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ttention-cell-5-1"/>
          <p:cNvSpPr/>
          <p:nvPr/>
        </p:nvSpPr>
        <p:spPr>
          <a:xfrm>
            <a:off x="7254239" y="2438399"/>
            <a:ext cx="176106" cy="176106"/>
          </a:xfrm>
          <a:prstGeom prst="rect">
            <a:avLst/>
          </a:prstGeom>
          <a:solidFill>
            <a:srgbClr val="D8CAED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ttention-cell-5-2"/>
          <p:cNvSpPr/>
          <p:nvPr/>
        </p:nvSpPr>
        <p:spPr>
          <a:xfrm>
            <a:off x="7430346" y="2438399"/>
            <a:ext cx="176106" cy="176106"/>
          </a:xfrm>
          <a:prstGeom prst="rect">
            <a:avLst/>
          </a:prstGeom>
          <a:solidFill>
            <a:srgbClr val="C6AFE2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attention-cell-5-3"/>
          <p:cNvSpPr/>
          <p:nvPr/>
        </p:nvSpPr>
        <p:spPr>
          <a:xfrm>
            <a:off x="7606453" y="2438399"/>
            <a:ext cx="176106" cy="176106"/>
          </a:xfrm>
          <a:prstGeom prst="rect">
            <a:avLst/>
          </a:prstGeom>
          <a:solidFill>
            <a:srgbClr val="B597D6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attention-cell-5-4"/>
          <p:cNvSpPr/>
          <p:nvPr/>
        </p:nvSpPr>
        <p:spPr>
          <a:xfrm>
            <a:off x="7782559" y="2438399"/>
            <a:ext cx="176106" cy="176106"/>
          </a:xfrm>
          <a:prstGeom prst="rect">
            <a:avLst/>
          </a:prstGeom>
          <a:solidFill>
            <a:srgbClr val="9D7DC8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attention-cell-5-5"/>
          <p:cNvSpPr/>
          <p:nvPr/>
        </p:nvSpPr>
        <p:spPr>
          <a:xfrm>
            <a:off x="7958666" y="2438399"/>
            <a:ext cx="176106" cy="176106"/>
          </a:xfrm>
          <a:prstGeom prst="rect">
            <a:avLst/>
          </a:prstGeom>
          <a:solidFill>
            <a:srgbClr val="8965BB"/>
          </a:solidFill>
          <a:ln w="406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ttended-tokens-0"/>
          <p:cNvSpPr/>
          <p:nvPr/>
        </p:nvSpPr>
        <p:spPr>
          <a:xfrm>
            <a:off x="8805333" y="1998133"/>
            <a:ext cx="149013" cy="331893"/>
          </a:xfrm>
          <a:prstGeom prst="roundRect">
            <a:avLst>
              <a:gd name="adj" fmla="val 13636"/>
            </a:avLst>
          </a:prstGeom>
          <a:solidFill>
            <a:srgbClr val="C4B1E5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ttended-tokens-1"/>
          <p:cNvSpPr/>
          <p:nvPr/>
        </p:nvSpPr>
        <p:spPr>
          <a:xfrm>
            <a:off x="8994986" y="1998133"/>
            <a:ext cx="149013" cy="331893"/>
          </a:xfrm>
          <a:prstGeom prst="roundRect">
            <a:avLst>
              <a:gd name="adj" fmla="val 13636"/>
            </a:avLst>
          </a:prstGeom>
          <a:solidFill>
            <a:srgbClr val="C4B1E5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ttended-tokens-2"/>
          <p:cNvSpPr/>
          <p:nvPr/>
        </p:nvSpPr>
        <p:spPr>
          <a:xfrm>
            <a:off x="9184639" y="1998133"/>
            <a:ext cx="149013" cy="331893"/>
          </a:xfrm>
          <a:prstGeom prst="roundRect">
            <a:avLst>
              <a:gd name="adj" fmla="val 13636"/>
            </a:avLst>
          </a:prstGeom>
          <a:solidFill>
            <a:srgbClr val="C4B1E5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ttended-tokens-3"/>
          <p:cNvSpPr/>
          <p:nvPr/>
        </p:nvSpPr>
        <p:spPr>
          <a:xfrm>
            <a:off x="9374293" y="1998133"/>
            <a:ext cx="149013" cy="331893"/>
          </a:xfrm>
          <a:prstGeom prst="roundRect">
            <a:avLst>
              <a:gd name="adj" fmla="val 13636"/>
            </a:avLst>
          </a:prstGeom>
          <a:solidFill>
            <a:srgbClr val="C4B1E5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ttended-tokens-4"/>
          <p:cNvSpPr/>
          <p:nvPr/>
        </p:nvSpPr>
        <p:spPr>
          <a:xfrm>
            <a:off x="9563946" y="1998133"/>
            <a:ext cx="149013" cy="331893"/>
          </a:xfrm>
          <a:prstGeom prst="roundRect">
            <a:avLst>
              <a:gd name="adj" fmla="val 13636"/>
            </a:avLst>
          </a:prstGeom>
          <a:solidFill>
            <a:srgbClr val="C4B1E5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eed-forward"/>
          <p:cNvSpPr/>
          <p:nvPr/>
        </p:nvSpPr>
        <p:spPr>
          <a:xfrm>
            <a:off x="9008533" y="3698239"/>
            <a:ext cx="1144693" cy="447039"/>
          </a:xfrm>
          <a:prstGeom prst="roundRect">
            <a:avLst>
              <a:gd name="adj" fmla="val 18181"/>
            </a:avLst>
          </a:prstGeom>
          <a:solidFill>
            <a:srgbClr val="E4DAF6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used-tokens-0"/>
          <p:cNvSpPr/>
          <p:nvPr/>
        </p:nvSpPr>
        <p:spPr>
          <a:xfrm>
            <a:off x="9198186" y="4240106"/>
            <a:ext cx="135466" cy="176106"/>
          </a:xfrm>
          <a:prstGeom prst="roundRect">
            <a:avLst>
              <a:gd name="adj" fmla="val 15000"/>
            </a:avLst>
          </a:prstGeom>
          <a:solidFill>
            <a:srgbClr val="BCA6E0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used-tokens-1"/>
          <p:cNvSpPr/>
          <p:nvPr/>
        </p:nvSpPr>
        <p:spPr>
          <a:xfrm>
            <a:off x="9367519" y="4240106"/>
            <a:ext cx="135466" cy="176106"/>
          </a:xfrm>
          <a:prstGeom prst="roundRect">
            <a:avLst>
              <a:gd name="adj" fmla="val 15000"/>
            </a:avLst>
          </a:prstGeom>
          <a:solidFill>
            <a:srgbClr val="BCA6E0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used-tokens-2"/>
          <p:cNvSpPr/>
          <p:nvPr/>
        </p:nvSpPr>
        <p:spPr>
          <a:xfrm>
            <a:off x="9536853" y="4240106"/>
            <a:ext cx="135466" cy="176106"/>
          </a:xfrm>
          <a:prstGeom prst="roundRect">
            <a:avLst>
              <a:gd name="adj" fmla="val 15000"/>
            </a:avLst>
          </a:prstGeom>
          <a:solidFill>
            <a:srgbClr val="BCA6E0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used-tokens-3"/>
          <p:cNvSpPr/>
          <p:nvPr/>
        </p:nvSpPr>
        <p:spPr>
          <a:xfrm>
            <a:off x="9706186" y="4240106"/>
            <a:ext cx="135466" cy="176106"/>
          </a:xfrm>
          <a:prstGeom prst="roundRect">
            <a:avLst>
              <a:gd name="adj" fmla="val 15000"/>
            </a:avLst>
          </a:prstGeom>
          <a:solidFill>
            <a:srgbClr val="BCA6E0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used-tokens-4"/>
          <p:cNvSpPr/>
          <p:nvPr/>
        </p:nvSpPr>
        <p:spPr>
          <a:xfrm>
            <a:off x="9875519" y="4240106"/>
            <a:ext cx="135466" cy="176106"/>
          </a:xfrm>
          <a:prstGeom prst="roundRect">
            <a:avLst>
              <a:gd name="adj" fmla="val 15000"/>
            </a:avLst>
          </a:prstGeom>
          <a:solidFill>
            <a:srgbClr val="BCA6E0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ask-head"/>
          <p:cNvSpPr/>
          <p:nvPr/>
        </p:nvSpPr>
        <p:spPr>
          <a:xfrm>
            <a:off x="10749279" y="2160693"/>
            <a:ext cx="1056639" cy="589279"/>
          </a:xfrm>
          <a:prstGeom prst="roundRect">
            <a:avLst>
              <a:gd name="adj" fmla="val 13793"/>
            </a:avLst>
          </a:prstGeom>
          <a:solidFill>
            <a:srgbClr val="FFF5DF"/>
          </a:solidFill>
          <a:ln w="10837">
            <a:solidFill>
              <a:srgbClr val="D7A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utput-class"/>
          <p:cNvSpPr/>
          <p:nvPr/>
        </p:nvSpPr>
        <p:spPr>
          <a:xfrm>
            <a:off x="10810239" y="3163146"/>
            <a:ext cx="1002453" cy="325119"/>
          </a:xfrm>
          <a:prstGeom prst="roundRect">
            <a:avLst>
              <a:gd name="adj" fmla="val 25000"/>
            </a:avLst>
          </a:prstGeom>
          <a:solidFill>
            <a:srgbClr val="FFF7E6"/>
          </a:solidFill>
          <a:ln w="10837">
            <a:solidFill>
              <a:srgbClr val="D7A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utput-region"/>
          <p:cNvSpPr/>
          <p:nvPr/>
        </p:nvSpPr>
        <p:spPr>
          <a:xfrm>
            <a:off x="10810239" y="3576319"/>
            <a:ext cx="1002453" cy="325119"/>
          </a:xfrm>
          <a:prstGeom prst="roundRect">
            <a:avLst>
              <a:gd name="adj" fmla="val 25000"/>
            </a:avLst>
          </a:prstGeom>
          <a:solidFill>
            <a:srgbClr val="FFF7E6"/>
          </a:solidFill>
          <a:ln w="10837">
            <a:solidFill>
              <a:srgbClr val="D7A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utput-score"/>
          <p:cNvSpPr/>
          <p:nvPr/>
        </p:nvSpPr>
        <p:spPr>
          <a:xfrm>
            <a:off x="10810239" y="3989493"/>
            <a:ext cx="1002453" cy="325119"/>
          </a:xfrm>
          <a:prstGeom prst="roundRect">
            <a:avLst>
              <a:gd name="adj" fmla="val 25000"/>
            </a:avLst>
          </a:prstGeom>
          <a:solidFill>
            <a:srgbClr val="FFF7E6"/>
          </a:solidFill>
          <a:ln w="10837">
            <a:solidFill>
              <a:srgbClr val="D7A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mountains"/>
          <p:cNvSpPr/>
          <p:nvPr/>
        </p:nvSpPr>
        <p:spPr>
          <a:xfrm>
            <a:off x="304785" y="1713569"/>
            <a:ext cx="812760" cy="406380"/>
          </a:xfrm>
          <a:custGeom>
            <a:avLst/>
            <a:gdLst/>
            <a:ahLst/>
            <a:cxnLst/>
            <a:rect l="l" t="t" r="r" b="b"/>
            <a:pathLst>
              <a:path w="120" h="60">
                <a:moveTo>
                  <a:pt x="0" y="40"/>
                </a:moveTo>
                <a:lnTo>
                  <a:pt x="33" y="0"/>
                </a:lnTo>
                <a:lnTo>
                  <a:pt x="60" y="29"/>
                </a:lnTo>
                <a:lnTo>
                  <a:pt x="84" y="7"/>
                </a:lnTo>
                <a:lnTo>
                  <a:pt x="120" y="46"/>
                </a:lnTo>
                <a:lnTo>
                  <a:pt x="120" y="60"/>
                </a:lnTo>
                <a:lnTo>
                  <a:pt x="0" y="60"/>
                </a:lnTo>
                <a:close/>
              </a:path>
            </a:pathLst>
          </a:custGeom>
          <a:solidFill>
            <a:srgbClr val="A5C6B8"/>
          </a:solidFill>
          <a:ln w="8127">
            <a:solidFill>
              <a:srgbClr val="A5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memory-slot-0-0-front"/>
          <p:cNvSpPr/>
          <p:nvPr/>
        </p:nvSpPr>
        <p:spPr>
          <a:xfrm>
            <a:off x="3670966" y="1530698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memory-slot-0-0-top"/>
          <p:cNvSpPr/>
          <p:nvPr/>
        </p:nvSpPr>
        <p:spPr>
          <a:xfrm>
            <a:off x="3670966" y="1476514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memory-slot-0-0-side"/>
          <p:cNvSpPr/>
          <p:nvPr/>
        </p:nvSpPr>
        <p:spPr>
          <a:xfrm>
            <a:off x="3901248" y="1476514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memory-slot-0-1-front"/>
          <p:cNvSpPr/>
          <p:nvPr/>
        </p:nvSpPr>
        <p:spPr>
          <a:xfrm>
            <a:off x="4050254" y="1530698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memory-slot-0-1-top"/>
          <p:cNvSpPr/>
          <p:nvPr/>
        </p:nvSpPr>
        <p:spPr>
          <a:xfrm>
            <a:off x="4050254" y="1476514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memory-slot-0-1-side"/>
          <p:cNvSpPr/>
          <p:nvPr/>
        </p:nvSpPr>
        <p:spPr>
          <a:xfrm>
            <a:off x="4280536" y="1476514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memory-slot-0-2-front"/>
          <p:cNvSpPr/>
          <p:nvPr/>
        </p:nvSpPr>
        <p:spPr>
          <a:xfrm>
            <a:off x="4429542" y="1530698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memory-slot-0-2-top"/>
          <p:cNvSpPr/>
          <p:nvPr/>
        </p:nvSpPr>
        <p:spPr>
          <a:xfrm>
            <a:off x="4429542" y="1476514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memory-slot-0-2-side"/>
          <p:cNvSpPr/>
          <p:nvPr/>
        </p:nvSpPr>
        <p:spPr>
          <a:xfrm>
            <a:off x="4659824" y="1476514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memory-slot-0-3-front"/>
          <p:cNvSpPr/>
          <p:nvPr/>
        </p:nvSpPr>
        <p:spPr>
          <a:xfrm>
            <a:off x="4808830" y="1530698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memory-slot-0-3-top"/>
          <p:cNvSpPr/>
          <p:nvPr/>
        </p:nvSpPr>
        <p:spPr>
          <a:xfrm>
            <a:off x="4808830" y="1476514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memory-slot-0-3-side"/>
          <p:cNvSpPr/>
          <p:nvPr/>
        </p:nvSpPr>
        <p:spPr>
          <a:xfrm>
            <a:off x="5039112" y="1476514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memory-slot-1-0-front"/>
          <p:cNvSpPr/>
          <p:nvPr/>
        </p:nvSpPr>
        <p:spPr>
          <a:xfrm>
            <a:off x="3670966" y="1835483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memory-slot-1-0-top"/>
          <p:cNvSpPr/>
          <p:nvPr/>
        </p:nvSpPr>
        <p:spPr>
          <a:xfrm>
            <a:off x="3670966" y="1781299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memory-slot-1-0-side"/>
          <p:cNvSpPr/>
          <p:nvPr/>
        </p:nvSpPr>
        <p:spPr>
          <a:xfrm>
            <a:off x="3901248" y="1781299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memory-slot-1-1-front"/>
          <p:cNvSpPr/>
          <p:nvPr/>
        </p:nvSpPr>
        <p:spPr>
          <a:xfrm>
            <a:off x="4050254" y="1835483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memory-slot-1-1-top"/>
          <p:cNvSpPr/>
          <p:nvPr/>
        </p:nvSpPr>
        <p:spPr>
          <a:xfrm>
            <a:off x="4050254" y="1781299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memory-slot-1-1-side"/>
          <p:cNvSpPr/>
          <p:nvPr/>
        </p:nvSpPr>
        <p:spPr>
          <a:xfrm>
            <a:off x="4280536" y="1781299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memory-slot-1-2-front"/>
          <p:cNvSpPr/>
          <p:nvPr/>
        </p:nvSpPr>
        <p:spPr>
          <a:xfrm>
            <a:off x="4429542" y="1835483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memory-slot-1-2-top"/>
          <p:cNvSpPr/>
          <p:nvPr/>
        </p:nvSpPr>
        <p:spPr>
          <a:xfrm>
            <a:off x="4429542" y="1781299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memory-slot-1-2-side"/>
          <p:cNvSpPr/>
          <p:nvPr/>
        </p:nvSpPr>
        <p:spPr>
          <a:xfrm>
            <a:off x="4659824" y="1781299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memory-slot-1-3-front"/>
          <p:cNvSpPr/>
          <p:nvPr/>
        </p:nvSpPr>
        <p:spPr>
          <a:xfrm>
            <a:off x="4808830" y="1835483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memory-slot-1-3-top"/>
          <p:cNvSpPr/>
          <p:nvPr/>
        </p:nvSpPr>
        <p:spPr>
          <a:xfrm>
            <a:off x="4808830" y="1781299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memory-slot-1-3-side"/>
          <p:cNvSpPr/>
          <p:nvPr/>
        </p:nvSpPr>
        <p:spPr>
          <a:xfrm>
            <a:off x="5039112" y="1781299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memory-slot-2-0-front"/>
          <p:cNvSpPr/>
          <p:nvPr/>
        </p:nvSpPr>
        <p:spPr>
          <a:xfrm>
            <a:off x="3670966" y="2140268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memory-slot-2-0-top"/>
          <p:cNvSpPr/>
          <p:nvPr/>
        </p:nvSpPr>
        <p:spPr>
          <a:xfrm>
            <a:off x="3670966" y="2086084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memory-slot-2-0-side"/>
          <p:cNvSpPr/>
          <p:nvPr/>
        </p:nvSpPr>
        <p:spPr>
          <a:xfrm>
            <a:off x="3901248" y="2086084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memory-slot-2-1-front"/>
          <p:cNvSpPr/>
          <p:nvPr/>
        </p:nvSpPr>
        <p:spPr>
          <a:xfrm>
            <a:off x="4050254" y="2140268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memory-slot-2-1-top"/>
          <p:cNvSpPr/>
          <p:nvPr/>
        </p:nvSpPr>
        <p:spPr>
          <a:xfrm>
            <a:off x="4050254" y="2086084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memory-slot-2-1-side"/>
          <p:cNvSpPr/>
          <p:nvPr/>
        </p:nvSpPr>
        <p:spPr>
          <a:xfrm>
            <a:off x="4280536" y="2086084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memory-slot-2-2-front"/>
          <p:cNvSpPr/>
          <p:nvPr/>
        </p:nvSpPr>
        <p:spPr>
          <a:xfrm>
            <a:off x="4429542" y="2140268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memory-slot-2-2-top"/>
          <p:cNvSpPr/>
          <p:nvPr/>
        </p:nvSpPr>
        <p:spPr>
          <a:xfrm>
            <a:off x="4429542" y="2086084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memory-slot-2-2-side"/>
          <p:cNvSpPr/>
          <p:nvPr/>
        </p:nvSpPr>
        <p:spPr>
          <a:xfrm>
            <a:off x="4659824" y="2086084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memory-slot-2-3-front"/>
          <p:cNvSpPr/>
          <p:nvPr/>
        </p:nvSpPr>
        <p:spPr>
          <a:xfrm>
            <a:off x="4808830" y="2140268"/>
            <a:ext cx="230282" cy="182871"/>
          </a:xfrm>
          <a:custGeom>
            <a:avLst/>
            <a:gdLst/>
            <a:ahLst/>
            <a:cxnLst/>
            <a:rect l="l" t="t" r="r" b="b"/>
            <a:pathLst>
              <a:path w="34" h="27">
                <a:moveTo>
                  <a:pt x="0" y="0"/>
                </a:moveTo>
                <a:lnTo>
                  <a:pt x="34" y="0"/>
                </a:lnTo>
                <a:lnTo>
                  <a:pt x="34" y="27"/>
                </a:lnTo>
                <a:lnTo>
                  <a:pt x="0" y="27"/>
                </a:lnTo>
                <a:close/>
              </a:path>
            </a:pathLst>
          </a:custGeom>
          <a:solidFill>
            <a:srgbClr val="8BD1C6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memory-slot-2-3-top"/>
          <p:cNvSpPr/>
          <p:nvPr/>
        </p:nvSpPr>
        <p:spPr>
          <a:xfrm>
            <a:off x="4808830" y="2086084"/>
            <a:ext cx="284466" cy="54184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8"/>
                </a:moveTo>
                <a:lnTo>
                  <a:pt x="8" y="0"/>
                </a:lnTo>
                <a:lnTo>
                  <a:pt x="42" y="0"/>
                </a:lnTo>
                <a:lnTo>
                  <a:pt x="34" y="8"/>
                </a:lnTo>
                <a:close/>
              </a:path>
            </a:pathLst>
          </a:custGeom>
          <a:solidFill>
            <a:srgbClr val="C6EAE2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memory-slot-2-3-side"/>
          <p:cNvSpPr/>
          <p:nvPr/>
        </p:nvSpPr>
        <p:spPr>
          <a:xfrm>
            <a:off x="5039112" y="2086084"/>
            <a:ext cx="54184" cy="237055"/>
          </a:xfrm>
          <a:custGeom>
            <a:avLst/>
            <a:gdLst/>
            <a:ahLst/>
            <a:cxnLst/>
            <a:rect l="l" t="t" r="r" b="b"/>
            <a:pathLst>
              <a:path w="8" h="35">
                <a:moveTo>
                  <a:pt x="0" y="8"/>
                </a:moveTo>
                <a:lnTo>
                  <a:pt x="8" y="0"/>
                </a:lnTo>
                <a:lnTo>
                  <a:pt x="8" y="27"/>
                </a:lnTo>
                <a:lnTo>
                  <a:pt x="0" y="35"/>
                </a:lnTo>
                <a:close/>
              </a:path>
            </a:pathLst>
          </a:custGeom>
          <a:solidFill>
            <a:srgbClr val="6BB5A9"/>
          </a:solidFill>
          <a:ln w="8127">
            <a:solidFill>
              <a:srgbClr val="64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patch-vertical-85:0"/>
          <p:cNvCxnSpPr/>
          <p:nvPr/>
        </p:nvCxnSpPr>
        <p:spPr>
          <a:xfrm>
            <a:off x="575733" y="1469813"/>
            <a:ext cx="0" cy="650240"/>
          </a:xfrm>
          <a:prstGeom prst="line">
            <a:avLst/>
          </a:prstGeom>
          <a:ln w="880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patch-vertical-125:0"/>
          <p:cNvCxnSpPr/>
          <p:nvPr/>
        </p:nvCxnSpPr>
        <p:spPr>
          <a:xfrm>
            <a:off x="846666" y="1469813"/>
            <a:ext cx="0" cy="650240"/>
          </a:xfrm>
          <a:prstGeom prst="line">
            <a:avLst/>
          </a:prstGeom>
          <a:ln w="880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patch-horizontal-249:0"/>
          <p:cNvCxnSpPr/>
          <p:nvPr/>
        </p:nvCxnSpPr>
        <p:spPr>
          <a:xfrm>
            <a:off x="304799" y="1686559"/>
            <a:ext cx="812800" cy="0"/>
          </a:xfrm>
          <a:prstGeom prst="line">
            <a:avLst/>
          </a:prstGeom>
          <a:ln w="880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patch-horizontal-281:0"/>
          <p:cNvCxnSpPr/>
          <p:nvPr/>
        </p:nvCxnSpPr>
        <p:spPr>
          <a:xfrm>
            <a:off x="304799" y="1903306"/>
            <a:ext cx="812800" cy="0"/>
          </a:xfrm>
          <a:prstGeom prst="line">
            <a:avLst/>
          </a:prstGeom>
          <a:ln w="880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image-to-vision:0"/>
          <p:cNvCxnSpPr/>
          <p:nvPr/>
        </p:nvCxnSpPr>
        <p:spPr>
          <a:xfrm>
            <a:off x="1117599" y="1794933"/>
            <a:ext cx="304800" cy="0"/>
          </a:xfrm>
          <a:prstGeom prst="line">
            <a:avLst/>
          </a:prstGeom>
          <a:ln w="14901">
            <a:solidFill>
              <a:srgbClr val="475C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vision-to-tokens:0"/>
          <p:cNvCxnSpPr/>
          <p:nvPr/>
        </p:nvCxnSpPr>
        <p:spPr>
          <a:xfrm>
            <a:off x="2350346" y="1794933"/>
            <a:ext cx="182880" cy="0"/>
          </a:xfrm>
          <a:prstGeom prst="line">
            <a:avLst/>
          </a:prstGeom>
          <a:ln w="14901">
            <a:solidFill>
              <a:srgbClr val="475C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input-to-text:0"/>
          <p:cNvCxnSpPr/>
          <p:nvPr/>
        </p:nvCxnSpPr>
        <p:spPr>
          <a:xfrm>
            <a:off x="1117599" y="3562773"/>
            <a:ext cx="304800" cy="0"/>
          </a:xfrm>
          <a:prstGeom prst="line">
            <a:avLst/>
          </a:prstGeom>
          <a:ln w="14901">
            <a:solidFill>
              <a:srgbClr val="475C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text-to-tokens:0"/>
          <p:cNvCxnSpPr/>
          <p:nvPr/>
        </p:nvCxnSpPr>
        <p:spPr>
          <a:xfrm>
            <a:off x="2350346" y="3562773"/>
            <a:ext cx="182880" cy="0"/>
          </a:xfrm>
          <a:prstGeom prst="line">
            <a:avLst/>
          </a:prstGeom>
          <a:ln w="14901">
            <a:solidFill>
              <a:srgbClr val="475C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bank-to-retrieval:0"/>
          <p:cNvCxnSpPr/>
          <p:nvPr/>
        </p:nvCxnSpPr>
        <p:spPr>
          <a:xfrm>
            <a:off x="4402666" y="2370666"/>
            <a:ext cx="880533" cy="0"/>
          </a:xfrm>
          <a:prstGeom prst="line">
            <a:avLst/>
          </a:prstGeom>
          <a:ln w="14901">
            <a:solidFill>
              <a:srgbClr val="64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bank-to-retrieval:1"/>
          <p:cNvCxnSpPr/>
          <p:nvPr/>
        </p:nvCxnSpPr>
        <p:spPr>
          <a:xfrm>
            <a:off x="5283199" y="2370666"/>
            <a:ext cx="0" cy="304800"/>
          </a:xfrm>
          <a:prstGeom prst="line">
            <a:avLst/>
          </a:prstGeom>
          <a:ln w="14901">
            <a:solidFill>
              <a:srgbClr val="64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bank-to-retrieval:2"/>
          <p:cNvCxnSpPr/>
          <p:nvPr/>
        </p:nvCxnSpPr>
        <p:spPr>
          <a:xfrm flipH="1">
            <a:off x="4402666" y="2675466"/>
            <a:ext cx="880533" cy="0"/>
          </a:xfrm>
          <a:prstGeom prst="line">
            <a:avLst/>
          </a:prstGeom>
          <a:ln w="14901">
            <a:solidFill>
              <a:srgbClr val="64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bank-to-retrieval:3"/>
          <p:cNvCxnSpPr/>
          <p:nvPr/>
        </p:nvCxnSpPr>
        <p:spPr>
          <a:xfrm>
            <a:off x="4402666" y="2675466"/>
            <a:ext cx="0" cy="142240"/>
          </a:xfrm>
          <a:prstGeom prst="line">
            <a:avLst/>
          </a:prstGeom>
          <a:ln w="14901">
            <a:solidFill>
              <a:srgbClr val="64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visual-query:0"/>
          <p:cNvCxnSpPr/>
          <p:nvPr/>
        </p:nvCxnSpPr>
        <p:spPr>
          <a:xfrm>
            <a:off x="3054773" y="1788159"/>
            <a:ext cx="237066" cy="0"/>
          </a:xfrm>
          <a:prstGeom prst="line">
            <a:avLst/>
          </a:prstGeom>
          <a:ln w="14901">
            <a:solidFill>
              <a:srgbClr val="7FA5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visual-query:1"/>
          <p:cNvCxnSpPr/>
          <p:nvPr/>
        </p:nvCxnSpPr>
        <p:spPr>
          <a:xfrm>
            <a:off x="3291839" y="1788159"/>
            <a:ext cx="0" cy="1239520"/>
          </a:xfrm>
          <a:prstGeom prst="line">
            <a:avLst/>
          </a:prstGeom>
          <a:ln w="14901">
            <a:solidFill>
              <a:srgbClr val="7FA5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sual-query:2"/>
          <p:cNvCxnSpPr/>
          <p:nvPr/>
        </p:nvCxnSpPr>
        <p:spPr>
          <a:xfrm>
            <a:off x="3291839" y="3027679"/>
            <a:ext cx="331894" cy="0"/>
          </a:xfrm>
          <a:prstGeom prst="line">
            <a:avLst/>
          </a:prstGeom>
          <a:ln w="14901">
            <a:solidFill>
              <a:srgbClr val="7FA5D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retrieval-to-context:0"/>
          <p:cNvCxnSpPr/>
          <p:nvPr/>
        </p:nvCxnSpPr>
        <p:spPr>
          <a:xfrm>
            <a:off x="4402666" y="3237653"/>
            <a:ext cx="0" cy="460586"/>
          </a:xfrm>
          <a:prstGeom prst="line">
            <a:avLst/>
          </a:prstGeom>
          <a:ln w="14901">
            <a:solidFill>
              <a:srgbClr val="64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visual-to-q:0"/>
          <p:cNvCxnSpPr/>
          <p:nvPr/>
        </p:nvCxnSpPr>
        <p:spPr>
          <a:xfrm>
            <a:off x="3054773" y="1788159"/>
            <a:ext cx="237066" cy="0"/>
          </a:xfrm>
          <a:prstGeom prst="line">
            <a:avLst/>
          </a:prstGeom>
          <a:ln w="14901">
            <a:solidFill>
              <a:srgbClr val="7FA5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visual-to-q:1"/>
          <p:cNvCxnSpPr/>
          <p:nvPr/>
        </p:nvCxnSpPr>
        <p:spPr>
          <a:xfrm flipV="1">
            <a:off x="3291839" y="1022773"/>
            <a:ext cx="0" cy="765386"/>
          </a:xfrm>
          <a:prstGeom prst="line">
            <a:avLst/>
          </a:prstGeom>
          <a:ln w="14901">
            <a:solidFill>
              <a:srgbClr val="7FA5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visual-to-q:2"/>
          <p:cNvCxnSpPr/>
          <p:nvPr/>
        </p:nvCxnSpPr>
        <p:spPr>
          <a:xfrm>
            <a:off x="3291839" y="1022773"/>
            <a:ext cx="2865120" cy="0"/>
          </a:xfrm>
          <a:prstGeom prst="line">
            <a:avLst/>
          </a:prstGeom>
          <a:ln w="14901">
            <a:solidFill>
              <a:srgbClr val="7FA5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visual-to-q:3"/>
          <p:cNvCxnSpPr/>
          <p:nvPr/>
        </p:nvCxnSpPr>
        <p:spPr>
          <a:xfrm>
            <a:off x="6156959" y="1022773"/>
            <a:ext cx="0" cy="487680"/>
          </a:xfrm>
          <a:prstGeom prst="line">
            <a:avLst/>
          </a:prstGeom>
          <a:ln w="14901">
            <a:solidFill>
              <a:srgbClr val="7FA5D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text-to-q:0"/>
          <p:cNvCxnSpPr/>
          <p:nvPr/>
        </p:nvCxnSpPr>
        <p:spPr>
          <a:xfrm>
            <a:off x="3054773" y="3562773"/>
            <a:ext cx="115146" cy="0"/>
          </a:xfrm>
          <a:prstGeom prst="line">
            <a:avLst/>
          </a:prstGeom>
          <a:ln w="14901">
            <a:solidFill>
              <a:srgbClr val="9A8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text-to-q:1"/>
          <p:cNvCxnSpPr/>
          <p:nvPr/>
        </p:nvCxnSpPr>
        <p:spPr>
          <a:xfrm>
            <a:off x="3169919" y="3562773"/>
            <a:ext cx="0" cy="873760"/>
          </a:xfrm>
          <a:prstGeom prst="line">
            <a:avLst/>
          </a:prstGeom>
          <a:ln w="14901">
            <a:solidFill>
              <a:srgbClr val="9A8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text-to-q:2"/>
          <p:cNvCxnSpPr/>
          <p:nvPr/>
        </p:nvCxnSpPr>
        <p:spPr>
          <a:xfrm>
            <a:off x="3169919" y="4436533"/>
            <a:ext cx="2445174" cy="0"/>
          </a:xfrm>
          <a:prstGeom prst="line">
            <a:avLst/>
          </a:prstGeom>
          <a:ln w="14901">
            <a:solidFill>
              <a:srgbClr val="9A8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text-to-q:3"/>
          <p:cNvCxnSpPr/>
          <p:nvPr/>
        </p:nvCxnSpPr>
        <p:spPr>
          <a:xfrm flipV="1">
            <a:off x="5615093" y="1910079"/>
            <a:ext cx="0" cy="2526454"/>
          </a:xfrm>
          <a:prstGeom prst="line">
            <a:avLst/>
          </a:prstGeom>
          <a:ln w="14901">
            <a:solidFill>
              <a:srgbClr val="9A8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text-to-q:4"/>
          <p:cNvCxnSpPr/>
          <p:nvPr/>
        </p:nvCxnSpPr>
        <p:spPr>
          <a:xfrm>
            <a:off x="5615093" y="1910079"/>
            <a:ext cx="135466" cy="0"/>
          </a:xfrm>
          <a:prstGeom prst="line">
            <a:avLst/>
          </a:prstGeom>
          <a:ln w="14901">
            <a:solidFill>
              <a:srgbClr val="9A87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text-to-k:0"/>
          <p:cNvCxnSpPr/>
          <p:nvPr/>
        </p:nvCxnSpPr>
        <p:spPr>
          <a:xfrm>
            <a:off x="4944533" y="3867573"/>
            <a:ext cx="528320" cy="0"/>
          </a:xfrm>
          <a:prstGeom prst="line">
            <a:avLst/>
          </a:prstGeom>
          <a:ln w="14901">
            <a:solidFill>
              <a:srgbClr val="64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text-to-k:1"/>
          <p:cNvCxnSpPr/>
          <p:nvPr/>
        </p:nvCxnSpPr>
        <p:spPr>
          <a:xfrm flipV="1">
            <a:off x="5472853" y="3061546"/>
            <a:ext cx="0" cy="806027"/>
          </a:xfrm>
          <a:prstGeom prst="line">
            <a:avLst/>
          </a:prstGeom>
          <a:ln w="14901">
            <a:solidFill>
              <a:srgbClr val="64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text-to-k:2"/>
          <p:cNvCxnSpPr/>
          <p:nvPr/>
        </p:nvCxnSpPr>
        <p:spPr>
          <a:xfrm>
            <a:off x="5472853" y="3061546"/>
            <a:ext cx="277706" cy="0"/>
          </a:xfrm>
          <a:prstGeom prst="line">
            <a:avLst/>
          </a:prstGeom>
          <a:ln w="14901">
            <a:solidFill>
              <a:srgbClr val="64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text-to-v:0"/>
          <p:cNvCxnSpPr/>
          <p:nvPr/>
        </p:nvCxnSpPr>
        <p:spPr>
          <a:xfrm>
            <a:off x="5472853" y="3867573"/>
            <a:ext cx="277706" cy="0"/>
          </a:xfrm>
          <a:prstGeom prst="line">
            <a:avLst/>
          </a:prstGeom>
          <a:ln w="14901">
            <a:solidFill>
              <a:srgbClr val="64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q-to-attention:0"/>
          <p:cNvCxnSpPr/>
          <p:nvPr/>
        </p:nvCxnSpPr>
        <p:spPr>
          <a:xfrm>
            <a:off x="6556586" y="1910079"/>
            <a:ext cx="399627" cy="0"/>
          </a:xfrm>
          <a:prstGeom prst="line">
            <a:avLst/>
          </a:prstGeom>
          <a:ln w="14901">
            <a:solidFill>
              <a:srgbClr val="7FA5D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k-to-attention:0"/>
          <p:cNvCxnSpPr/>
          <p:nvPr/>
        </p:nvCxnSpPr>
        <p:spPr>
          <a:xfrm>
            <a:off x="6556586" y="3061546"/>
            <a:ext cx="101600" cy="0"/>
          </a:xfrm>
          <a:prstGeom prst="line">
            <a:avLst/>
          </a:prstGeom>
          <a:ln w="14901">
            <a:solidFill>
              <a:srgbClr val="64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k-to-attention:1"/>
          <p:cNvCxnSpPr/>
          <p:nvPr/>
        </p:nvCxnSpPr>
        <p:spPr>
          <a:xfrm flipV="1">
            <a:off x="6658186" y="2512906"/>
            <a:ext cx="0" cy="548640"/>
          </a:xfrm>
          <a:prstGeom prst="line">
            <a:avLst/>
          </a:prstGeom>
          <a:ln w="14901">
            <a:solidFill>
              <a:srgbClr val="64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k-to-attention:2"/>
          <p:cNvCxnSpPr/>
          <p:nvPr/>
        </p:nvCxnSpPr>
        <p:spPr>
          <a:xfrm>
            <a:off x="6658186" y="2512906"/>
            <a:ext cx="331893" cy="0"/>
          </a:xfrm>
          <a:prstGeom prst="line">
            <a:avLst/>
          </a:prstGeom>
          <a:ln w="14901">
            <a:solidFill>
              <a:srgbClr val="64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attention-to-product:0"/>
          <p:cNvCxnSpPr/>
          <p:nvPr/>
        </p:nvCxnSpPr>
        <p:spPr>
          <a:xfrm>
            <a:off x="7972213" y="2621279"/>
            <a:ext cx="0" cy="629920"/>
          </a:xfrm>
          <a:prstGeom prst="line">
            <a:avLst/>
          </a:prstGeom>
          <a:ln w="14901">
            <a:solidFill>
              <a:srgbClr val="9A87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v-to-product:0"/>
          <p:cNvCxnSpPr/>
          <p:nvPr/>
        </p:nvCxnSpPr>
        <p:spPr>
          <a:xfrm>
            <a:off x="6556586" y="3867573"/>
            <a:ext cx="717973" cy="0"/>
          </a:xfrm>
          <a:prstGeom prst="line">
            <a:avLst/>
          </a:prstGeom>
          <a:ln w="14901">
            <a:solidFill>
              <a:srgbClr val="64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v-to-product:1"/>
          <p:cNvCxnSpPr/>
          <p:nvPr/>
        </p:nvCxnSpPr>
        <p:spPr>
          <a:xfrm flipV="1">
            <a:off x="7274559" y="3400213"/>
            <a:ext cx="0" cy="467360"/>
          </a:xfrm>
          <a:prstGeom prst="line">
            <a:avLst/>
          </a:prstGeom>
          <a:ln w="14901">
            <a:solidFill>
              <a:srgbClr val="64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v-to-product:2"/>
          <p:cNvCxnSpPr/>
          <p:nvPr/>
        </p:nvCxnSpPr>
        <p:spPr>
          <a:xfrm>
            <a:off x="7274559" y="3400213"/>
            <a:ext cx="548640" cy="0"/>
          </a:xfrm>
          <a:prstGeom prst="line">
            <a:avLst/>
          </a:prstGeom>
          <a:ln w="14901">
            <a:solidFill>
              <a:srgbClr val="64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product-to-attended:0"/>
          <p:cNvCxnSpPr/>
          <p:nvPr/>
        </p:nvCxnSpPr>
        <p:spPr>
          <a:xfrm>
            <a:off x="8121226" y="3400213"/>
            <a:ext cx="602827" cy="0"/>
          </a:xfrm>
          <a:prstGeom prst="line">
            <a:avLst/>
          </a:prstGeom>
          <a:ln w="14901">
            <a:solidFill>
              <a:srgbClr val="9A8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product-to-attended:1"/>
          <p:cNvCxnSpPr/>
          <p:nvPr/>
        </p:nvCxnSpPr>
        <p:spPr>
          <a:xfrm flipV="1">
            <a:off x="8724053" y="2167466"/>
            <a:ext cx="0" cy="1232747"/>
          </a:xfrm>
          <a:prstGeom prst="line">
            <a:avLst/>
          </a:prstGeom>
          <a:ln w="14901">
            <a:solidFill>
              <a:srgbClr val="9A8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product-to-attended:2"/>
          <p:cNvCxnSpPr/>
          <p:nvPr/>
        </p:nvCxnSpPr>
        <p:spPr>
          <a:xfrm>
            <a:off x="8724053" y="2167466"/>
            <a:ext cx="81280" cy="0"/>
          </a:xfrm>
          <a:prstGeom prst="line">
            <a:avLst/>
          </a:prstGeom>
          <a:ln w="14901">
            <a:solidFill>
              <a:srgbClr val="9A87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attended-to-residual:0"/>
          <p:cNvCxnSpPr/>
          <p:nvPr/>
        </p:nvCxnSpPr>
        <p:spPr>
          <a:xfrm>
            <a:off x="9211733" y="2330026"/>
            <a:ext cx="0" cy="657013"/>
          </a:xfrm>
          <a:prstGeom prst="line">
            <a:avLst/>
          </a:prstGeom>
          <a:ln w="14901">
            <a:solidFill>
              <a:srgbClr val="9A8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attended-to-residual:1"/>
          <p:cNvCxnSpPr/>
          <p:nvPr/>
        </p:nvCxnSpPr>
        <p:spPr>
          <a:xfrm flipH="1">
            <a:off x="8608906" y="2987039"/>
            <a:ext cx="602827" cy="0"/>
          </a:xfrm>
          <a:prstGeom prst="line">
            <a:avLst/>
          </a:prstGeom>
          <a:ln w="14901">
            <a:solidFill>
              <a:srgbClr val="9A8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attended-to-residual:2"/>
          <p:cNvCxnSpPr/>
          <p:nvPr/>
        </p:nvCxnSpPr>
        <p:spPr>
          <a:xfrm>
            <a:off x="8608906" y="2987039"/>
            <a:ext cx="0" cy="792480"/>
          </a:xfrm>
          <a:prstGeom prst="line">
            <a:avLst/>
          </a:prstGeom>
          <a:ln w="14901">
            <a:solidFill>
              <a:srgbClr val="9A87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visual-residual:0"/>
          <p:cNvCxnSpPr/>
          <p:nvPr/>
        </p:nvCxnSpPr>
        <p:spPr>
          <a:xfrm>
            <a:off x="3054773" y="1788159"/>
            <a:ext cx="155786" cy="0"/>
          </a:xfrm>
          <a:prstGeom prst="line">
            <a:avLst/>
          </a:prstGeom>
          <a:ln w="14901">
            <a:solidFill>
              <a:srgbClr val="7FA5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visual-residual:1"/>
          <p:cNvCxnSpPr/>
          <p:nvPr/>
        </p:nvCxnSpPr>
        <p:spPr>
          <a:xfrm>
            <a:off x="3210559" y="1788159"/>
            <a:ext cx="0" cy="3061547"/>
          </a:xfrm>
          <a:prstGeom prst="line">
            <a:avLst/>
          </a:prstGeom>
          <a:ln w="14901">
            <a:solidFill>
              <a:srgbClr val="7FA5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visual-residual:2"/>
          <p:cNvCxnSpPr/>
          <p:nvPr/>
        </p:nvCxnSpPr>
        <p:spPr>
          <a:xfrm>
            <a:off x="3210559" y="4849706"/>
            <a:ext cx="5398347" cy="0"/>
          </a:xfrm>
          <a:prstGeom prst="line">
            <a:avLst/>
          </a:prstGeom>
          <a:ln w="14901">
            <a:solidFill>
              <a:srgbClr val="7FA5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visual-residual:3"/>
          <p:cNvCxnSpPr/>
          <p:nvPr/>
        </p:nvCxnSpPr>
        <p:spPr>
          <a:xfrm flipV="1">
            <a:off x="8608906" y="4063999"/>
            <a:ext cx="0" cy="785707"/>
          </a:xfrm>
          <a:prstGeom prst="line">
            <a:avLst/>
          </a:prstGeom>
          <a:ln w="14901">
            <a:solidFill>
              <a:srgbClr val="7FA5D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add-to-feedforward:0"/>
          <p:cNvCxnSpPr/>
          <p:nvPr/>
        </p:nvCxnSpPr>
        <p:spPr>
          <a:xfrm>
            <a:off x="8751146" y="3921759"/>
            <a:ext cx="257387" cy="0"/>
          </a:xfrm>
          <a:prstGeom prst="line">
            <a:avLst/>
          </a:prstGeom>
          <a:ln w="14901">
            <a:solidFill>
              <a:srgbClr val="9A87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ff-to-fused:0"/>
          <p:cNvCxnSpPr/>
          <p:nvPr/>
        </p:nvCxnSpPr>
        <p:spPr>
          <a:xfrm>
            <a:off x="9584266" y="4145279"/>
            <a:ext cx="0" cy="67734"/>
          </a:xfrm>
          <a:prstGeom prst="line">
            <a:avLst/>
          </a:prstGeom>
          <a:ln w="14901">
            <a:solidFill>
              <a:srgbClr val="9A87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fused-to-task:0"/>
          <p:cNvCxnSpPr/>
          <p:nvPr/>
        </p:nvCxnSpPr>
        <p:spPr>
          <a:xfrm>
            <a:off x="10024533" y="4328159"/>
            <a:ext cx="399626" cy="0"/>
          </a:xfrm>
          <a:prstGeom prst="line">
            <a:avLst/>
          </a:prstGeom>
          <a:ln w="14901">
            <a:solidFill>
              <a:srgbClr val="9A8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fused-to-task:1"/>
          <p:cNvCxnSpPr/>
          <p:nvPr/>
        </p:nvCxnSpPr>
        <p:spPr>
          <a:xfrm flipV="1">
            <a:off x="10424159" y="2451946"/>
            <a:ext cx="0" cy="1876213"/>
          </a:xfrm>
          <a:prstGeom prst="line">
            <a:avLst/>
          </a:prstGeom>
          <a:ln w="14901">
            <a:solidFill>
              <a:srgbClr val="9A8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fused-to-task:2"/>
          <p:cNvCxnSpPr/>
          <p:nvPr/>
        </p:nvCxnSpPr>
        <p:spPr>
          <a:xfrm>
            <a:off x="10424159" y="2451946"/>
            <a:ext cx="325120" cy="0"/>
          </a:xfrm>
          <a:prstGeom prst="line">
            <a:avLst/>
          </a:prstGeom>
          <a:ln w="14901">
            <a:solidFill>
              <a:srgbClr val="9A87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task-trunk:0"/>
          <p:cNvCxnSpPr/>
          <p:nvPr/>
        </p:nvCxnSpPr>
        <p:spPr>
          <a:xfrm>
            <a:off x="11277599" y="2749973"/>
            <a:ext cx="0" cy="264160"/>
          </a:xfrm>
          <a:prstGeom prst="line">
            <a:avLst/>
          </a:prstGeom>
          <a:ln w="14901">
            <a:solidFill>
              <a:srgbClr val="D7AB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task-trunk:1"/>
          <p:cNvCxnSpPr/>
          <p:nvPr/>
        </p:nvCxnSpPr>
        <p:spPr>
          <a:xfrm flipH="1">
            <a:off x="10654453" y="3014133"/>
            <a:ext cx="623146" cy="0"/>
          </a:xfrm>
          <a:prstGeom prst="line">
            <a:avLst/>
          </a:prstGeom>
          <a:ln w="14901">
            <a:solidFill>
              <a:srgbClr val="D7AB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task-trunk:2"/>
          <p:cNvCxnSpPr/>
          <p:nvPr/>
        </p:nvCxnSpPr>
        <p:spPr>
          <a:xfrm>
            <a:off x="10654453" y="3014133"/>
            <a:ext cx="0" cy="1158240"/>
          </a:xfrm>
          <a:prstGeom prst="line">
            <a:avLst/>
          </a:prstGeom>
          <a:ln w="14901">
            <a:solidFill>
              <a:srgbClr val="D7AB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head-to-class:0"/>
          <p:cNvCxnSpPr/>
          <p:nvPr/>
        </p:nvCxnSpPr>
        <p:spPr>
          <a:xfrm>
            <a:off x="10654453" y="3325706"/>
            <a:ext cx="155786" cy="0"/>
          </a:xfrm>
          <a:prstGeom prst="line">
            <a:avLst/>
          </a:prstGeom>
          <a:ln w="14901">
            <a:solidFill>
              <a:srgbClr val="D7AB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head-to-region:0"/>
          <p:cNvCxnSpPr/>
          <p:nvPr/>
        </p:nvCxnSpPr>
        <p:spPr>
          <a:xfrm>
            <a:off x="10654453" y="3738879"/>
            <a:ext cx="155786" cy="0"/>
          </a:xfrm>
          <a:prstGeom prst="line">
            <a:avLst/>
          </a:prstGeom>
          <a:ln w="14901">
            <a:solidFill>
              <a:srgbClr val="D7AB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head-to-score:0"/>
          <p:cNvCxnSpPr/>
          <p:nvPr/>
        </p:nvCxnSpPr>
        <p:spPr>
          <a:xfrm>
            <a:off x="10654453" y="4152053"/>
            <a:ext cx="155786" cy="0"/>
          </a:xfrm>
          <a:prstGeom prst="line">
            <a:avLst/>
          </a:prstGeom>
          <a:ln w="14901">
            <a:solidFill>
              <a:srgbClr val="D7AB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attend-product"/>
          <p:cNvSpPr/>
          <p:nvPr/>
        </p:nvSpPr>
        <p:spPr>
          <a:xfrm>
            <a:off x="7823199" y="3251199"/>
            <a:ext cx="298026" cy="298026"/>
          </a:xfrm>
          <a:prstGeom prst="ellipse">
            <a:avLst/>
          </a:prstGeom>
          <a:solidFill>
            <a:srgbClr val="FFFFFF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sidual-add"/>
          <p:cNvSpPr/>
          <p:nvPr/>
        </p:nvSpPr>
        <p:spPr>
          <a:xfrm>
            <a:off x="8466666" y="3779519"/>
            <a:ext cx="284479" cy="284479"/>
          </a:xfrm>
          <a:prstGeom prst="ellipse">
            <a:avLst/>
          </a:prstGeom>
          <a:solidFill>
            <a:srgbClr val="FFFFFF"/>
          </a:solidFill>
          <a:ln w="10837">
            <a:solidFill>
              <a:srgbClr val="9A8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heading-a"/>
          <p:cNvSpPr txBox="1"/>
          <p:nvPr/>
        </p:nvSpPr>
        <p:spPr>
          <a:xfrm>
            <a:off x="237066" y="650239"/>
            <a:ext cx="2912533" cy="29802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93" b="1" i="0">
                <a:solidFill>
                  <a:srgbClr val="243448"/>
                </a:solidFill>
                <a:latin typeface="Arial"/>
                <a:ea typeface="Arial"/>
              </a:rPr>
              <a:t>(a) Multimodal encoding</a:t>
            </a:r>
          </a:p>
        </p:txBody>
      </p:sp>
      <p:sp>
        <p:nvSpPr>
          <p:cNvPr id="190" name="heading-b"/>
          <p:cNvSpPr txBox="1"/>
          <p:nvPr/>
        </p:nvSpPr>
        <p:spPr>
          <a:xfrm>
            <a:off x="3454399" y="650239"/>
            <a:ext cx="1896533" cy="29802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691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43448"/>
                </a:solidFill>
                <a:latin typeface="Arial"/>
                <a:ea typeface="Arial"/>
              </a:rPr>
              <a:t>(b) Memory retrieval</a:t>
            </a:r>
          </a:p>
        </p:txBody>
      </p:sp>
      <p:sp>
        <p:nvSpPr>
          <p:cNvPr id="191" name="heading-c"/>
          <p:cNvSpPr txBox="1"/>
          <p:nvPr/>
        </p:nvSpPr>
        <p:spPr>
          <a:xfrm>
            <a:off x="5655733" y="650239"/>
            <a:ext cx="4605866" cy="29802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93" b="1" i="0">
                <a:solidFill>
                  <a:srgbClr val="243448"/>
                </a:solidFill>
                <a:latin typeface="Arial"/>
                <a:ea typeface="Arial"/>
              </a:rPr>
              <a:t>(c) Memory-guided fusion</a:t>
            </a:r>
          </a:p>
        </p:txBody>
      </p:sp>
      <p:sp>
        <p:nvSpPr>
          <p:cNvPr id="192" name="heading-d"/>
          <p:cNvSpPr txBox="1"/>
          <p:nvPr/>
        </p:nvSpPr>
        <p:spPr>
          <a:xfrm>
            <a:off x="10532533" y="650239"/>
            <a:ext cx="1490133" cy="29802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93" b="1" i="0">
                <a:solidFill>
                  <a:srgbClr val="243448"/>
                </a:solidFill>
                <a:latin typeface="Arial"/>
                <a:ea typeface="Arial"/>
              </a:rPr>
              <a:t>(d) Prediction</a:t>
            </a:r>
          </a:p>
        </p:txBody>
      </p:sp>
      <p:sp>
        <p:nvSpPr>
          <p:cNvPr id="193" name="image-label"/>
          <p:cNvSpPr txBox="1"/>
          <p:nvPr/>
        </p:nvSpPr>
        <p:spPr>
          <a:xfrm>
            <a:off x="237066" y="1117599"/>
            <a:ext cx="982133" cy="23706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066" b="1" i="0">
                <a:solidFill>
                  <a:srgbClr val="243448"/>
                </a:solidFill>
                <a:latin typeface="Arial"/>
                <a:ea typeface="Arial"/>
              </a:rPr>
              <a:t>Image patches</a:t>
            </a:r>
          </a:p>
        </p:txBody>
      </p:sp>
      <p:sp>
        <p:nvSpPr>
          <p:cNvPr id="194" name="vision-label"/>
          <p:cNvSpPr txBox="1"/>
          <p:nvPr/>
        </p:nvSpPr>
        <p:spPr>
          <a:xfrm>
            <a:off x="1483359" y="1571413"/>
            <a:ext cx="806026" cy="447039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626"/>
              </a:lnSpc>
              <a:spcBef>
                <a:spcPts val="0"/>
              </a:spcBef>
              <a:spcAft>
                <a:spcPts val="0"/>
              </a:spcAft>
            </a:pPr>
            <a:r>
              <a:rPr sz="1333" b="1" i="0">
                <a:solidFill>
                  <a:srgbClr val="243448"/>
                </a:solidFill>
                <a:latin typeface="Arial"/>
                <a:ea typeface="Arial"/>
              </a:rPr>
              <a:t>Vision</a:t>
            </a:r>
          </a:p>
          <a:p>
            <a:pPr algn="ctr">
              <a:lnSpc>
                <a:spcPts val="1626"/>
              </a:lnSpc>
              <a:spcBef>
                <a:spcPts val="0"/>
              </a:spcBef>
              <a:spcAft>
                <a:spcPts val="0"/>
              </a:spcAft>
            </a:pPr>
            <a:r>
              <a:rPr sz="1333" b="1" i="0">
                <a:solidFill>
                  <a:srgbClr val="243448"/>
                </a:solidFill>
                <a:latin typeface="Arial"/>
                <a:ea typeface="Arial"/>
              </a:rPr>
              <a:t>encoder</a:t>
            </a:r>
          </a:p>
        </p:txBody>
      </p:sp>
      <p:sp>
        <p:nvSpPr>
          <p:cNvPr id="195" name="visual-tokens-label"/>
          <p:cNvSpPr txBox="1"/>
          <p:nvPr/>
        </p:nvSpPr>
        <p:spPr>
          <a:xfrm>
            <a:off x="2404533" y="1286933"/>
            <a:ext cx="812799" cy="23706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066" b="0" i="0">
                <a:solidFill>
                  <a:srgbClr val="243448"/>
                </a:solidFill>
                <a:latin typeface="Arial"/>
                <a:ea typeface="Arial"/>
              </a:rPr>
              <a:t>Visual tokens</a:t>
            </a:r>
          </a:p>
        </p:txBody>
      </p:sp>
      <p:sp>
        <p:nvSpPr>
          <p:cNvPr id="196" name="text-input-label"/>
          <p:cNvSpPr txBox="1"/>
          <p:nvPr/>
        </p:nvSpPr>
        <p:spPr>
          <a:xfrm>
            <a:off x="230293" y="2926079"/>
            <a:ext cx="988906" cy="23706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066" b="1" i="0">
                <a:solidFill>
                  <a:srgbClr val="243448"/>
                </a:solidFill>
                <a:latin typeface="Arial"/>
                <a:ea typeface="Arial"/>
              </a:rPr>
              <a:t>Text sequence</a:t>
            </a:r>
          </a:p>
        </p:txBody>
      </p:sp>
      <p:sp>
        <p:nvSpPr>
          <p:cNvPr id="197" name="text-example"/>
          <p:cNvSpPr txBox="1"/>
          <p:nvPr/>
        </p:nvSpPr>
        <p:spPr>
          <a:xfrm>
            <a:off x="358986" y="3325706"/>
            <a:ext cx="704426" cy="453813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066" b="0" i="0">
                <a:solidFill>
                  <a:srgbClr val="243448"/>
                </a:solidFill>
                <a:latin typeface="Arial"/>
                <a:ea typeface="Arial"/>
              </a:rPr>
              <a:t>Describe</a:t>
            </a:r>
          </a:p>
          <a:p>
            <a:pPr algn="ctr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066" b="0" i="0">
                <a:solidFill>
                  <a:srgbClr val="243448"/>
                </a:solidFill>
                <a:latin typeface="Arial"/>
                <a:ea typeface="Arial"/>
              </a:rPr>
              <a:t>the scene</a:t>
            </a:r>
          </a:p>
        </p:txBody>
      </p:sp>
      <p:sp>
        <p:nvSpPr>
          <p:cNvPr id="198" name="text-encoder-label"/>
          <p:cNvSpPr txBox="1"/>
          <p:nvPr/>
        </p:nvSpPr>
        <p:spPr>
          <a:xfrm>
            <a:off x="1490133" y="3318933"/>
            <a:ext cx="792479" cy="474133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626"/>
              </a:lnSpc>
              <a:spcBef>
                <a:spcPts val="0"/>
              </a:spcBef>
              <a:spcAft>
                <a:spcPts val="0"/>
              </a:spcAft>
            </a:pPr>
            <a:r>
              <a:rPr sz="1333" b="1" i="0">
                <a:solidFill>
                  <a:srgbClr val="243448"/>
                </a:solidFill>
                <a:latin typeface="Arial"/>
                <a:ea typeface="Arial"/>
              </a:rPr>
              <a:t>Text</a:t>
            </a:r>
          </a:p>
          <a:p>
            <a:pPr algn="ctr">
              <a:lnSpc>
                <a:spcPts val="1626"/>
              </a:lnSpc>
              <a:spcBef>
                <a:spcPts val="0"/>
              </a:spcBef>
              <a:spcAft>
                <a:spcPts val="0"/>
              </a:spcAft>
            </a:pPr>
            <a:r>
              <a:rPr sz="1333" b="1" i="0">
                <a:solidFill>
                  <a:srgbClr val="243448"/>
                </a:solidFill>
                <a:latin typeface="Arial"/>
                <a:ea typeface="Arial"/>
              </a:rPr>
              <a:t>encoder</a:t>
            </a:r>
          </a:p>
        </p:txBody>
      </p:sp>
      <p:sp>
        <p:nvSpPr>
          <p:cNvPr id="199" name="text-token-label"/>
          <p:cNvSpPr txBox="1"/>
          <p:nvPr/>
        </p:nvSpPr>
        <p:spPr>
          <a:xfrm>
            <a:off x="2404533" y="3014133"/>
            <a:ext cx="812799" cy="23706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066" b="0" i="0">
                <a:solidFill>
                  <a:srgbClr val="243448"/>
                </a:solidFill>
                <a:latin typeface="Arial"/>
                <a:ea typeface="Arial"/>
              </a:rPr>
              <a:t>Text tokens</a:t>
            </a:r>
          </a:p>
        </p:txBody>
      </p:sp>
      <p:sp>
        <p:nvSpPr>
          <p:cNvPr id="200" name="memory-bank-label"/>
          <p:cNvSpPr txBox="1"/>
          <p:nvPr/>
        </p:nvSpPr>
        <p:spPr>
          <a:xfrm>
            <a:off x="3522133" y="1117599"/>
            <a:ext cx="1761066" cy="23706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626"/>
              </a:lnSpc>
              <a:spcBef>
                <a:spcPts val="0"/>
              </a:spcBef>
              <a:spcAft>
                <a:spcPts val="0"/>
              </a:spcAft>
            </a:pPr>
            <a:r>
              <a:rPr sz="1333" b="1" i="0">
                <a:solidFill>
                  <a:srgbClr val="243448"/>
                </a:solidFill>
                <a:latin typeface="Arial"/>
                <a:ea typeface="Arial"/>
              </a:rPr>
              <a:t>Memory bank</a:t>
            </a:r>
          </a:p>
        </p:txBody>
      </p:sp>
      <p:sp>
        <p:nvSpPr>
          <p:cNvPr id="201" name="memory-slots-note"/>
          <p:cNvSpPr txBox="1"/>
          <p:nvPr/>
        </p:nvSpPr>
        <p:spPr>
          <a:xfrm>
            <a:off x="3522133" y="2438399"/>
            <a:ext cx="1761066" cy="203199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301"/>
              </a:lnSpc>
              <a:spcBef>
                <a:spcPts val="0"/>
              </a:spcBef>
              <a:spcAft>
                <a:spcPts val="0"/>
              </a:spcAft>
            </a:pPr>
            <a:r>
              <a:rPr sz="1066" b="0" i="0">
                <a:solidFill>
                  <a:srgbClr val="607185"/>
                </a:solidFill>
                <a:latin typeface="Arial"/>
                <a:ea typeface="Arial"/>
              </a:rPr>
              <a:t>key–value slots</a:t>
            </a:r>
          </a:p>
        </p:txBody>
      </p:sp>
      <p:sp>
        <p:nvSpPr>
          <p:cNvPr id="202" name="retrieval-label"/>
          <p:cNvSpPr txBox="1"/>
          <p:nvPr/>
        </p:nvSpPr>
        <p:spPr>
          <a:xfrm>
            <a:off x="3691466" y="2892213"/>
            <a:ext cx="1422399" cy="270933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626"/>
              </a:lnSpc>
              <a:spcBef>
                <a:spcPts val="0"/>
              </a:spcBef>
              <a:spcAft>
                <a:spcPts val="0"/>
              </a:spcAft>
            </a:pPr>
            <a:r>
              <a:rPr sz="1333" b="1" i="0">
                <a:solidFill>
                  <a:srgbClr val="243448"/>
                </a:solidFill>
                <a:latin typeface="Arial"/>
                <a:ea typeface="Arial"/>
              </a:rPr>
              <a:t>Top-k retrieval</a:t>
            </a:r>
          </a:p>
        </p:txBody>
      </p:sp>
      <p:sp>
        <p:nvSpPr>
          <p:cNvPr id="203" name="query-caption"/>
          <p:cNvSpPr txBox="1"/>
          <p:nvPr/>
        </p:nvSpPr>
        <p:spPr>
          <a:xfrm>
            <a:off x="3298613" y="3129279"/>
            <a:ext cx="318346" cy="203199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sz="853" b="0" i="0">
                <a:solidFill>
                  <a:srgbClr val="7FA5D0"/>
                </a:solidFill>
                <a:latin typeface="Arial"/>
                <a:ea typeface="Arial"/>
              </a:rPr>
              <a:t>query</a:t>
            </a:r>
          </a:p>
        </p:txBody>
      </p:sp>
      <p:sp>
        <p:nvSpPr>
          <p:cNvPr id="204" name="context-label"/>
          <p:cNvSpPr txBox="1"/>
          <p:nvPr/>
        </p:nvSpPr>
        <p:spPr>
          <a:xfrm>
            <a:off x="3555999" y="4091093"/>
            <a:ext cx="1693333" cy="243839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496"/>
              </a:lnSpc>
              <a:spcBef>
                <a:spcPts val="0"/>
              </a:spcBef>
              <a:spcAft>
                <a:spcPts val="0"/>
              </a:spcAft>
            </a:pPr>
            <a:r>
              <a:rPr sz="1226" b="1" i="0">
                <a:solidFill>
                  <a:srgbClr val="243448"/>
                </a:solidFill>
                <a:latin typeface="Arial"/>
                <a:ea typeface="Arial"/>
              </a:rPr>
              <a:t>Retrieved context</a:t>
            </a:r>
          </a:p>
        </p:txBody>
      </p:sp>
      <p:sp>
        <p:nvSpPr>
          <p:cNvPr id="205" name="q-label"/>
          <p:cNvSpPr txBox="1"/>
          <p:nvPr/>
        </p:nvSpPr>
        <p:spPr>
          <a:xfrm>
            <a:off x="5825066" y="1564639"/>
            <a:ext cx="657013" cy="223519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626"/>
              </a:lnSpc>
              <a:spcBef>
                <a:spcPts val="0"/>
              </a:spcBef>
              <a:spcAft>
                <a:spcPts val="0"/>
              </a:spcAft>
            </a:pPr>
            <a:r>
              <a:rPr sz="1333" b="1" i="0">
                <a:solidFill>
                  <a:srgbClr val="243448"/>
                </a:solidFill>
                <a:latin typeface="Arial"/>
                <a:ea typeface="Arial"/>
              </a:rPr>
              <a:t>Q</a:t>
            </a:r>
          </a:p>
        </p:txBody>
      </p:sp>
      <p:sp>
        <p:nvSpPr>
          <p:cNvPr id="206" name="q-caption"/>
          <p:cNvSpPr txBox="1"/>
          <p:nvPr/>
        </p:nvSpPr>
        <p:spPr>
          <a:xfrm>
            <a:off x="5703146" y="2370666"/>
            <a:ext cx="914399" cy="203199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59" b="0" i="0">
                <a:solidFill>
                  <a:srgbClr val="607185"/>
                </a:solidFill>
                <a:latin typeface="Arial"/>
                <a:ea typeface="Arial"/>
              </a:rPr>
              <a:t>visual + text</a:t>
            </a:r>
          </a:p>
        </p:txBody>
      </p:sp>
      <p:sp>
        <p:nvSpPr>
          <p:cNvPr id="207" name="k-label"/>
          <p:cNvSpPr txBox="1"/>
          <p:nvPr/>
        </p:nvSpPr>
        <p:spPr>
          <a:xfrm>
            <a:off x="5804746" y="2790613"/>
            <a:ext cx="697653" cy="223519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79" b="1" i="0">
                <a:solidFill>
                  <a:srgbClr val="243448"/>
                </a:solidFill>
                <a:latin typeface="Arial"/>
                <a:ea typeface="Arial"/>
              </a:rPr>
              <a:t>K</a:t>
            </a:r>
          </a:p>
        </p:txBody>
      </p:sp>
      <p:sp>
        <p:nvSpPr>
          <p:cNvPr id="208" name="v-label"/>
          <p:cNvSpPr txBox="1"/>
          <p:nvPr/>
        </p:nvSpPr>
        <p:spPr>
          <a:xfrm>
            <a:off x="5804746" y="3596639"/>
            <a:ext cx="697653" cy="223519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79" b="1" i="0">
                <a:solidFill>
                  <a:srgbClr val="243448"/>
                </a:solidFill>
                <a:latin typeface="Arial"/>
                <a:ea typeface="Arial"/>
              </a:rPr>
              <a:t>V</a:t>
            </a:r>
          </a:p>
        </p:txBody>
      </p:sp>
      <p:sp>
        <p:nvSpPr>
          <p:cNvPr id="209" name="attention-heading"/>
          <p:cNvSpPr txBox="1"/>
          <p:nvPr/>
        </p:nvSpPr>
        <p:spPr>
          <a:xfrm>
            <a:off x="6820746" y="1246293"/>
            <a:ext cx="1693333" cy="23706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496"/>
              </a:lnSpc>
              <a:spcBef>
                <a:spcPts val="0"/>
              </a:spcBef>
              <a:spcAft>
                <a:spcPts val="0"/>
              </a:spcAft>
            </a:pPr>
            <a:r>
              <a:rPr sz="1226" b="1" i="0">
                <a:solidFill>
                  <a:srgbClr val="243448"/>
                </a:solidFill>
                <a:latin typeface="Arial"/>
                <a:ea typeface="Arial"/>
              </a:rPr>
              <a:t>Cross-attention</a:t>
            </a:r>
          </a:p>
        </p:txBody>
      </p:sp>
      <p:sp>
        <p:nvSpPr>
          <p:cNvPr id="210" name="matrix-note"/>
          <p:cNvSpPr txBox="1"/>
          <p:nvPr/>
        </p:nvSpPr>
        <p:spPr>
          <a:xfrm>
            <a:off x="6976533" y="2790613"/>
            <a:ext cx="1388533" cy="21674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236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607185"/>
                </a:solidFill>
                <a:latin typeface="Arial"/>
                <a:ea typeface="Arial"/>
              </a:rPr>
              <a:t>attention weights</a:t>
            </a:r>
          </a:p>
        </p:txBody>
      </p:sp>
      <p:sp>
        <p:nvSpPr>
          <p:cNvPr id="211" name="attend-product-symbol"/>
          <p:cNvSpPr txBox="1"/>
          <p:nvPr/>
        </p:nvSpPr>
        <p:spPr>
          <a:xfrm>
            <a:off x="7836746" y="3264746"/>
            <a:ext cx="270933" cy="270933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951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243448"/>
                </a:solidFill>
                <a:latin typeface="Arial"/>
                <a:ea typeface="Arial"/>
              </a:rPr>
              <a:t>×</a:t>
            </a:r>
          </a:p>
        </p:txBody>
      </p:sp>
      <p:sp>
        <p:nvSpPr>
          <p:cNvPr id="212" name="attended-tokens-label"/>
          <p:cNvSpPr txBox="1"/>
          <p:nvPr/>
        </p:nvSpPr>
        <p:spPr>
          <a:xfrm>
            <a:off x="8690186" y="1618826"/>
            <a:ext cx="1273386" cy="25738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431"/>
              </a:lnSpc>
              <a:spcBef>
                <a:spcPts val="0"/>
              </a:spcBef>
              <a:spcAft>
                <a:spcPts val="0"/>
              </a:spcAft>
            </a:pPr>
            <a:r>
              <a:rPr sz="1173" b="1" i="0">
                <a:solidFill>
                  <a:srgbClr val="243448"/>
                </a:solidFill>
                <a:latin typeface="Arial"/>
                <a:ea typeface="Arial"/>
              </a:rPr>
              <a:t>Attended tokens</a:t>
            </a:r>
          </a:p>
        </p:txBody>
      </p:sp>
      <p:sp>
        <p:nvSpPr>
          <p:cNvPr id="213" name="residual-plus"/>
          <p:cNvSpPr txBox="1"/>
          <p:nvPr/>
        </p:nvSpPr>
        <p:spPr>
          <a:xfrm>
            <a:off x="8480213" y="3793066"/>
            <a:ext cx="257386" cy="25738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243448"/>
                </a:solidFill>
                <a:latin typeface="Arial"/>
                <a:ea typeface="Arial"/>
              </a:rPr>
              <a:t>+</a:t>
            </a:r>
          </a:p>
        </p:txBody>
      </p:sp>
      <p:sp>
        <p:nvSpPr>
          <p:cNvPr id="214" name="residual-label"/>
          <p:cNvSpPr txBox="1"/>
          <p:nvPr/>
        </p:nvSpPr>
        <p:spPr>
          <a:xfrm>
            <a:off x="4741333" y="4863253"/>
            <a:ext cx="3522133" cy="223519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236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7FA5D0"/>
                </a:solidFill>
                <a:latin typeface="Arial"/>
                <a:ea typeface="Arial"/>
              </a:rPr>
              <a:t>Visual-token residual</a:t>
            </a:r>
          </a:p>
        </p:txBody>
      </p:sp>
      <p:sp>
        <p:nvSpPr>
          <p:cNvPr id="215" name="feed-forward-label"/>
          <p:cNvSpPr txBox="1"/>
          <p:nvPr/>
        </p:nvSpPr>
        <p:spPr>
          <a:xfrm>
            <a:off x="9076266" y="3799839"/>
            <a:ext cx="1009226" cy="230293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496"/>
              </a:lnSpc>
              <a:spcBef>
                <a:spcPts val="0"/>
              </a:spcBef>
              <a:spcAft>
                <a:spcPts val="0"/>
              </a:spcAft>
            </a:pPr>
            <a:r>
              <a:rPr sz="1226" b="1" i="0">
                <a:solidFill>
                  <a:srgbClr val="243448"/>
                </a:solidFill>
                <a:latin typeface="Arial"/>
                <a:ea typeface="Arial"/>
              </a:rPr>
              <a:t>Feed-forward</a:t>
            </a:r>
          </a:p>
        </p:txBody>
      </p:sp>
      <p:sp>
        <p:nvSpPr>
          <p:cNvPr id="216" name="fused-label"/>
          <p:cNvSpPr txBox="1"/>
          <p:nvPr/>
        </p:nvSpPr>
        <p:spPr>
          <a:xfrm>
            <a:off x="8696959" y="4443306"/>
            <a:ext cx="1564639" cy="203199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59" b="0" i="0">
                <a:solidFill>
                  <a:srgbClr val="607185"/>
                </a:solidFill>
                <a:latin typeface="Arial"/>
                <a:ea typeface="Arial"/>
              </a:rPr>
              <a:t>Fused representation</a:t>
            </a:r>
          </a:p>
        </p:txBody>
      </p:sp>
      <p:sp>
        <p:nvSpPr>
          <p:cNvPr id="217" name="task-head-label"/>
          <p:cNvSpPr txBox="1"/>
          <p:nvPr/>
        </p:nvSpPr>
        <p:spPr>
          <a:xfrm>
            <a:off x="10817013" y="2330026"/>
            <a:ext cx="921173" cy="23706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691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43448"/>
                </a:solidFill>
                <a:latin typeface="Arial"/>
                <a:ea typeface="Arial"/>
              </a:rPr>
              <a:t>Task head</a:t>
            </a:r>
          </a:p>
        </p:txBody>
      </p:sp>
      <p:sp>
        <p:nvSpPr>
          <p:cNvPr id="218" name="output-class-label"/>
          <p:cNvSpPr txBox="1"/>
          <p:nvPr/>
        </p:nvSpPr>
        <p:spPr>
          <a:xfrm>
            <a:off x="10864426" y="3203786"/>
            <a:ext cx="894079" cy="23706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496"/>
              </a:lnSpc>
              <a:spcBef>
                <a:spcPts val="0"/>
              </a:spcBef>
              <a:spcAft>
                <a:spcPts val="0"/>
              </a:spcAft>
            </a:pPr>
            <a:r>
              <a:rPr sz="1226" b="1" i="0">
                <a:solidFill>
                  <a:srgbClr val="243448"/>
                </a:solidFill>
                <a:latin typeface="Arial"/>
                <a:ea typeface="Arial"/>
              </a:rPr>
              <a:t>Class</a:t>
            </a:r>
          </a:p>
        </p:txBody>
      </p:sp>
      <p:sp>
        <p:nvSpPr>
          <p:cNvPr id="219" name="output-region-label"/>
          <p:cNvSpPr txBox="1"/>
          <p:nvPr/>
        </p:nvSpPr>
        <p:spPr>
          <a:xfrm>
            <a:off x="10864426" y="3616959"/>
            <a:ext cx="894079" cy="23706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496"/>
              </a:lnSpc>
              <a:spcBef>
                <a:spcPts val="0"/>
              </a:spcBef>
              <a:spcAft>
                <a:spcPts val="0"/>
              </a:spcAft>
            </a:pPr>
            <a:r>
              <a:rPr sz="1226" b="1" i="0">
                <a:solidFill>
                  <a:srgbClr val="243448"/>
                </a:solidFill>
                <a:latin typeface="Arial"/>
                <a:ea typeface="Arial"/>
              </a:rPr>
              <a:t>Region</a:t>
            </a:r>
          </a:p>
        </p:txBody>
      </p:sp>
      <p:sp>
        <p:nvSpPr>
          <p:cNvPr id="220" name="output-score-label"/>
          <p:cNvSpPr txBox="1"/>
          <p:nvPr/>
        </p:nvSpPr>
        <p:spPr>
          <a:xfrm>
            <a:off x="10864426" y="4030133"/>
            <a:ext cx="894079" cy="237066"/>
          </a:xfrm>
          <a:prstGeom prst="rect">
            <a:avLst/>
          </a:prstGeom>
          <a:noFill/>
        </p:spPr>
        <p:txBody>
          <a:bodyPr wrap="none" tIns="6773" bIns="6773" lIns="6773" rIns="6773" anchor="ctr">
            <a:spAutoFit/>
          </a:bodyPr>
          <a:lstStyle/>
          <a:p>
            <a:pPr algn="ctr">
              <a:lnSpc>
                <a:spcPts val="1496"/>
              </a:lnSpc>
              <a:spcBef>
                <a:spcPts val="0"/>
              </a:spcBef>
              <a:spcAft>
                <a:spcPts val="0"/>
              </a:spcAft>
            </a:pPr>
            <a:r>
              <a:rPr sz="1226" b="1" i="0">
                <a:solidFill>
                  <a:srgbClr val="243448"/>
                </a:solidFill>
                <a:latin typeface="Arial"/>
                <a:ea typeface="Arial"/>
              </a:rPr>
              <a:t>Score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